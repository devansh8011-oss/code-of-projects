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84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4315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  <a:effectLst>
            <a:outerShdw blurRad="254000" dist="12700" dir="8100000" algn="bl" rotWithShape="0">
              <a:srgbClr val="00E5FF">
                <a:alpha val="7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E5FF"/>
          </a:solidFill>
          <a:ln/>
          <a:effectLst>
            <a:outerShdw blurRad="254000" dist="12700" dir="8100000" algn="bl" rotWithShape="0">
              <a:srgbClr val="00E5FF">
                <a:alpha val="7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0" y="-457200"/>
            <a:ext cx="4114800" cy="4114800"/>
          </a:xfrm>
          <a:prstGeom prst="ellipse">
            <a:avLst/>
          </a:prstGeom>
          <a:solidFill>
            <a:srgbClr val="00E5FF">
              <a:alpha val="4000"/>
            </a:srgbClr>
          </a:solidFill>
          <a:ln w="10160">
            <a:solidFill>
              <a:srgbClr val="00E5FF"/>
            </a:solidFill>
            <a:prstDash val="solid"/>
          </a:ln>
          <a:effectLst>
            <a:outerShdw blurRad="3175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0" y="182880"/>
            <a:ext cx="2743200" cy="2743200"/>
          </a:xfrm>
          <a:prstGeom prst="ellipse">
            <a:avLst/>
          </a:prstGeom>
          <a:solidFill>
            <a:srgbClr val="00E5FF">
              <a:alpha val="5000"/>
            </a:srgbClr>
          </a:solidFill>
          <a:ln w="762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0FF87">
              <a:alpha val="4000"/>
            </a:srgbClr>
          </a:solidFill>
          <a:ln w="7620">
            <a:solidFill>
              <a:srgbClr val="00FF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  <a:effectLst>
            <a:outerShdw blurRad="254000" dist="12700" dir="8100000" algn="bl" rotWithShape="0">
              <a:srgbClr val="00E5FF">
                <a:alpha val="7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MAZE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noFill/>
          <a:ln/>
          <a:effectLst>
            <a:outerShdw blurRad="254000" dist="12700" dir="8100000" algn="bl" rotWithShape="0">
              <a:srgbClr val="00E5FF">
                <a:alpha val="7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6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Build Guide  ·  Component Selection  ·  Comparisons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2286000" cy="402336"/>
          </a:xfrm>
          <a:prstGeom prst="rect">
            <a:avLst/>
          </a:prstGeom>
          <a:solidFill>
            <a:srgbClr val="00E5FF">
              <a:alpha val="15000"/>
            </a:srgbClr>
          </a:solidFill>
          <a:ln w="15240">
            <a:solidFill>
              <a:srgbClr val="00E5FF"/>
            </a:solidFill>
            <a:prstDash val="solid"/>
          </a:ln>
          <a:effectLst>
            <a:outerShdw blurRad="1270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127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E5FF"/>
                </a:solidFill>
              </a:rPr>
              <a:t>NAVIGATE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3108960"/>
            <a:ext cx="2286000" cy="402336"/>
          </a:xfrm>
          <a:prstGeom prst="rect">
            <a:avLst/>
          </a:prstGeom>
          <a:solidFill>
            <a:srgbClr val="00FF87">
              <a:alpha val="15000"/>
            </a:srgbClr>
          </a:solidFill>
          <a:ln w="15240">
            <a:solidFill>
              <a:srgbClr val="00FF87"/>
            </a:solidFill>
            <a:prstDash val="solid"/>
          </a:ln>
          <a:effectLst>
            <a:outerShdw blurRad="127000" dist="12700" dir="8100000" algn="bl" rotWithShape="0">
              <a:srgbClr val="00FF87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0" y="3127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FF87"/>
                </a:solidFill>
              </a:rPr>
              <a:t>DETECT TILES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3108960"/>
            <a:ext cx="2286000" cy="402336"/>
          </a:xfrm>
          <a:prstGeom prst="rect">
            <a:avLst/>
          </a:prstGeom>
          <a:solidFill>
            <a:srgbClr val="FFB800">
              <a:alpha val="15000"/>
            </a:srgbClr>
          </a:solidFill>
          <a:ln w="15240">
            <a:solidFill>
              <a:srgbClr val="FFB800"/>
            </a:solidFill>
            <a:prstDash val="solid"/>
          </a:ln>
          <a:effectLst>
            <a:outerShdw blurRad="127000" dist="12700" dir="8100000" algn="bl" rotWithShape="0">
              <a:srgbClr val="FFB8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3127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B800"/>
                </a:solidFill>
              </a:rPr>
              <a:t>AVOID HAZARDS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A3C0"/>
                </a:solidFill>
              </a:rPr>
              <a:t>DPS IT Fest 2026  ·  July 7  ·  Classes VIII–XII  ·  3 min × 2 attempts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18288"/>
          </a:xfrm>
          <a:prstGeom prst="rect">
            <a:avLst/>
          </a:prstGeom>
          <a:solidFill>
            <a:srgbClr val="00E5FF"/>
          </a:solidFill>
          <a:ln/>
          <a:effectLst>
            <a:outerShdw blurRad="1016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  <a:effectLst>
            <a:outerShdw blurRad="50800" dist="12700" dir="8100000" algn="bl" rotWithShape="0">
              <a:srgbClr val="00E5FF">
                <a:alpha val="5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</a:rPr>
              <a:t>Navigate. Locate. Rescue.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0081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66928"/>
          </a:xfrm>
          <a:prstGeom prst="rect">
            <a:avLst/>
          </a:prstGeom>
          <a:noFill/>
          <a:ln/>
          <a:effectLst>
            <a:outerShdw blurRad="254000" dist="12700" dir="8100000" algn="bl" rotWithShape="0">
              <a:srgbClr val="00E5FF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7512"/>
            <a:ext cx="9144000" cy="109728"/>
          </a:xfrm>
          <a:prstGeom prst="rect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2194560"/>
          </a:xfrm>
          <a:prstGeom prst="rect">
            <a:avLst/>
          </a:prstGeom>
          <a:solidFill>
            <a:srgbClr val="061828"/>
          </a:solidFill>
          <a:ln w="15240">
            <a:solidFill>
              <a:srgbClr val="00E5FF"/>
            </a:solidFill>
            <a:prstDash val="solid"/>
          </a:ln>
          <a:effectLst>
            <a:outerShdw blurRad="1524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96112"/>
            <a:ext cx="3840480" cy="274320"/>
          </a:xfrm>
          <a:prstGeom prst="rect">
            <a:avLst/>
          </a:prstGeom>
          <a:noFill/>
          <a:ln/>
          <a:effectLst>
            <a:outerShdw blurRad="50800" dist="12700" dir="8100000" algn="bl" rotWithShape="0">
              <a:srgbClr val="00E5FF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SPECS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size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28800" y="126187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× 30 cm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51790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width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0" y="1517904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cm (approx.)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77393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height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28800" y="1773936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30 cm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02996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robot size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0" y="2029968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25×25 or 27×27 cm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28600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limit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28800" y="228600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 per attempt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254203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0" y="254203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(best score counts)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804672"/>
            <a:ext cx="4297680" cy="2194560"/>
          </a:xfrm>
          <a:prstGeom prst="rect">
            <a:avLst/>
          </a:prstGeom>
          <a:solidFill>
            <a:srgbClr val="061828"/>
          </a:solidFill>
          <a:ln w="15240">
            <a:solidFill>
              <a:srgbClr val="FFB800"/>
            </a:solidFill>
            <a:prstDash val="solid"/>
          </a:ln>
          <a:effectLst>
            <a:outerShdw blurRad="152400" dist="12700" dir="8100000" algn="bl" rotWithShape="0">
              <a:srgbClr val="FFB8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896112"/>
            <a:ext cx="4023360" cy="274320"/>
          </a:xfrm>
          <a:prstGeom prst="rect">
            <a:avLst/>
          </a:prstGeom>
          <a:noFill/>
          <a:ln/>
          <a:effectLst>
            <a:outerShdw blurRad="50800" dist="12700" dir="8100000" algn="bl" rotWithShape="0">
              <a:srgbClr val="FFB8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TYPES &amp; ROBOT RESPONSE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1371600"/>
            <a:ext cx="182880" cy="182880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FFFFFF">
                <a:alpha val="5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131673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131673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path tile — navigate through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719072"/>
            <a:ext cx="182880" cy="182880"/>
          </a:xfrm>
          <a:prstGeom prst="ellipse">
            <a:avLst/>
          </a:prstGeom>
          <a:solidFill>
            <a:srgbClr val="00B4D8"/>
          </a:solidFill>
          <a:ln/>
          <a:effectLst>
            <a:outerShdw blurRad="63500" dist="12700" dir="8100000" algn="bl" rotWithShape="0">
              <a:srgbClr val="00B4D8">
                <a:alpha val="5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16642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16642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BLUE LED as confirmation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066544"/>
            <a:ext cx="182880" cy="182880"/>
          </a:xfrm>
          <a:prstGeom prst="ellipse">
            <a:avLst/>
          </a:prstGeom>
          <a:solidFill>
            <a:schemeClr val="tx1"/>
          </a:solidFill>
          <a:ln/>
          <a:effectLst>
            <a:outerShdw blurRad="63500" dist="12700" dir="8100000" algn="bl" rotWithShape="0">
              <a:srgbClr val="FF3D5A">
                <a:alpha val="5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20116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0" y="20116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BUZZER sound — avoid zone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414016"/>
            <a:ext cx="182880" cy="182880"/>
          </a:xfrm>
          <a:prstGeom prst="ellipse">
            <a:avLst/>
          </a:prstGeom>
          <a:solidFill>
            <a:srgbClr val="94A3B8"/>
          </a:solidFill>
          <a:ln/>
          <a:effectLst>
            <a:outerShdw blurRad="63500" dist="12700" dir="8100000" algn="bl" rotWithShape="0">
              <a:srgbClr val="94A3B8">
                <a:alpha val="5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37760" y="23591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23591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— safe restart point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108960"/>
            <a:ext cx="4206240" cy="1874520"/>
          </a:xfrm>
          <a:prstGeom prst="rect">
            <a:avLst/>
          </a:prstGeom>
          <a:solidFill>
            <a:srgbClr val="061828"/>
          </a:solidFill>
          <a:ln w="15240">
            <a:solidFill>
              <a:srgbClr val="00E5FF"/>
            </a:solidFill>
            <a:prstDash val="solid"/>
          </a:ln>
          <a:effectLst>
            <a:outerShdw blurRad="1524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1480" y="3200400"/>
            <a:ext cx="3931920" cy="274320"/>
          </a:xfrm>
          <a:prstGeom prst="rect">
            <a:avLst/>
          </a:prstGeom>
          <a:noFill/>
          <a:ln/>
          <a:effectLst>
            <a:outerShdw blurRad="50800" dist="12700" dir="8100000" algn="bl" rotWithShape="0">
              <a:srgbClr val="00E5FF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ROUND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" y="34930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7, 2026 · 10 AM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3831336"/>
            <a:ext cx="91440" cy="91440"/>
          </a:xfrm>
          <a:prstGeom prst="ellipse">
            <a:avLst/>
          </a:prstGeom>
          <a:solidFill>
            <a:srgbClr val="00E5FF"/>
          </a:solidFill>
          <a:ln/>
          <a:effectLst>
            <a:outerShdw blurRad="508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8640" y="3794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maze at school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4105656"/>
            <a:ext cx="91440" cy="91440"/>
          </a:xfrm>
          <a:prstGeom prst="ellipse">
            <a:avLst/>
          </a:prstGeom>
          <a:solidFill>
            <a:srgbClr val="00E5FF"/>
          </a:solidFill>
          <a:ln/>
          <a:effectLst>
            <a:outerShdw blurRad="508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8640" y="40690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shared at 8 AM same day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4379976"/>
            <a:ext cx="91440" cy="91440"/>
          </a:xfrm>
          <a:prstGeom prst="ellipse">
            <a:avLst/>
          </a:prstGeom>
          <a:solidFill>
            <a:srgbClr val="00E5FF"/>
          </a:solidFill>
          <a:ln/>
          <a:effectLst>
            <a:outerShdw blurRad="508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48640" y="4343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Blue/black tile detection only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1480" y="4654296"/>
            <a:ext cx="91440" cy="91440"/>
          </a:xfrm>
          <a:prstGeom prst="ellipse">
            <a:avLst/>
          </a:prstGeom>
          <a:solidFill>
            <a:srgbClr val="00E5FF"/>
          </a:solidFill>
          <a:ln/>
          <a:effectLst>
            <a:outerShdw blurRad="508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8640" y="4617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Camera-recorded, evaluated online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09160" y="3108960"/>
            <a:ext cx="4206240" cy="1874520"/>
          </a:xfrm>
          <a:prstGeom prst="rect">
            <a:avLst/>
          </a:prstGeom>
          <a:solidFill>
            <a:srgbClr val="061828"/>
          </a:solidFill>
          <a:ln w="15240">
            <a:solidFill>
              <a:srgbClr val="00FF87"/>
            </a:solidFill>
            <a:prstDash val="solid"/>
          </a:ln>
          <a:effectLst>
            <a:outerShdw blurRad="152400" dist="12700" dir="8100000" algn="bl" rotWithShape="0">
              <a:srgbClr val="00FF87">
                <a:alpha val="5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46320" y="3200400"/>
            <a:ext cx="3931920" cy="274320"/>
          </a:xfrm>
          <a:prstGeom prst="rect">
            <a:avLst/>
          </a:prstGeom>
          <a:noFill/>
          <a:ln/>
          <a:effectLst>
            <a:outerShdw blurRad="50800" dist="12700" dir="8100000" algn="bl" rotWithShape="0">
              <a:srgbClr val="00FF87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ROUND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846320" y="34930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July 10 results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46320" y="3831336"/>
            <a:ext cx="91440" cy="91440"/>
          </a:xfrm>
          <a:prstGeom prst="ellipse">
            <a:avLst/>
          </a:prstGeom>
          <a:solidFill>
            <a:srgbClr val="00FF87"/>
          </a:solidFill>
          <a:ln/>
          <a:effectLst>
            <a:outerShdw blurRad="50800" dist="12700" dir="8100000" algn="bl" rotWithShape="0">
              <a:srgbClr val="00FF87">
                <a:alpha val="5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983480" y="3794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tiled maze at host school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4105656"/>
            <a:ext cx="91440" cy="91440"/>
          </a:xfrm>
          <a:prstGeom prst="ellipse">
            <a:avLst/>
          </a:prstGeom>
          <a:solidFill>
            <a:srgbClr val="00FF87"/>
          </a:solidFill>
          <a:ln/>
          <a:effectLst>
            <a:outerShdw blurRad="50800" dist="12700" dir="8100000" algn="bl" rotWithShape="0">
              <a:srgbClr val="00FF87">
                <a:alpha val="5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983480" y="40690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 of terrains and obstacles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46320" y="4379976"/>
            <a:ext cx="91440" cy="91440"/>
          </a:xfrm>
          <a:prstGeom prst="ellipse">
            <a:avLst/>
          </a:prstGeom>
          <a:solidFill>
            <a:srgbClr val="00FF87"/>
          </a:solidFill>
          <a:ln/>
          <a:effectLst>
            <a:outerShdw blurRad="50800" dist="12700" dir="8100000" algn="bl" rotWithShape="0">
              <a:srgbClr val="00FF87">
                <a:alpha val="5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983480" y="4343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detection (letters/tags)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46320" y="4654296"/>
            <a:ext cx="91440" cy="91440"/>
          </a:xfrm>
          <a:prstGeom prst="ellipse">
            <a:avLst/>
          </a:prstGeom>
          <a:solidFill>
            <a:srgbClr val="00FF87"/>
          </a:solidFill>
          <a:ln/>
          <a:effectLst>
            <a:outerShdw blurRad="50800" dist="12700" dir="8100000" algn="bl" rotWithShape="0">
              <a:srgbClr val="00FF87">
                <a:alpha val="5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983480" y="4617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control — fully autonomous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0081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66928"/>
          </a:xfrm>
          <a:prstGeom prst="rect">
            <a:avLst/>
          </a:prstGeom>
          <a:noFill/>
          <a:ln/>
          <a:effectLst>
            <a:outerShdw blurRad="254000" dist="12700" dir="8100000" algn="bl" rotWithShape="0">
              <a:srgbClr val="00E5FF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7512"/>
            <a:ext cx="9144000" cy="109728"/>
          </a:xfrm>
          <a:prstGeom prst="rect">
            <a:avLst/>
          </a:prstGeom>
          <a:solidFill>
            <a:srgbClr val="00E5FF">
              <a:alpha val="10000"/>
            </a:srgbClr>
          </a:solidFill>
          <a:ln/>
        </p:spPr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2A5EAD3D-2A78-E7C9-A79B-83A8E2E962C1}"/>
              </a:ext>
            </a:extLst>
          </p:cNvPr>
          <p:cNvGrpSpPr/>
          <p:nvPr/>
        </p:nvGrpSpPr>
        <p:grpSpPr>
          <a:xfrm>
            <a:off x="201168" y="804672"/>
            <a:ext cx="2816352" cy="4338828"/>
            <a:chOff x="201168" y="804672"/>
            <a:chExt cx="2816352" cy="4654296"/>
          </a:xfrm>
        </p:grpSpPr>
        <p:sp>
          <p:nvSpPr>
            <p:cNvPr id="6" name="Shape 4"/>
            <p:cNvSpPr/>
            <p:nvPr/>
          </p:nvSpPr>
          <p:spPr>
            <a:xfrm>
              <a:off x="201168" y="804672"/>
              <a:ext cx="2816352" cy="4654296"/>
            </a:xfrm>
            <a:prstGeom prst="rect">
              <a:avLst/>
            </a:prstGeom>
            <a:solidFill>
              <a:srgbClr val="061828"/>
            </a:solidFill>
            <a:ln w="15240">
              <a:solidFill>
                <a:srgbClr val="FFB800"/>
              </a:solidFill>
              <a:prstDash val="solid"/>
            </a:ln>
            <a:effectLst>
              <a:outerShdw blurRad="152400" dist="12700" dir="8100000" algn="bl" rotWithShape="0">
                <a:srgbClr val="FFB800">
                  <a:alpha val="55000"/>
                </a:srgbClr>
              </a:outerShdw>
            </a:effectLst>
          </p:spPr>
        </p:sp>
        <p:sp>
          <p:nvSpPr>
            <p:cNvPr id="7" name="Shape 5"/>
            <p:cNvSpPr/>
            <p:nvPr/>
          </p:nvSpPr>
          <p:spPr>
            <a:xfrm>
              <a:off x="292608" y="877824"/>
              <a:ext cx="1463040" cy="274320"/>
            </a:xfrm>
            <a:prstGeom prst="rect">
              <a:avLst/>
            </a:prstGeom>
            <a:solidFill>
              <a:srgbClr val="FFB800">
                <a:alpha val="22000"/>
              </a:srgbClr>
            </a:solidFill>
            <a:ln w="10160">
              <a:solidFill>
                <a:srgbClr val="FFB800"/>
              </a:solidFill>
              <a:prstDash val="solid"/>
            </a:ln>
            <a:effectLst>
              <a:outerShdw blurRad="101600" dist="12700" dir="8100000" algn="bl" rotWithShape="0">
                <a:srgbClr val="FFB800">
                  <a:alpha val="55000"/>
                </a:srgbClr>
              </a:outerShdw>
            </a:effectLst>
          </p:spPr>
        </p:sp>
        <p:sp>
          <p:nvSpPr>
            <p:cNvPr id="8" name="Text 6"/>
            <p:cNvSpPr/>
            <p:nvPr/>
          </p:nvSpPr>
          <p:spPr>
            <a:xfrm>
              <a:off x="292608" y="896112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B800"/>
                  </a:solidFill>
                </a:rPr>
                <a:t>Entry Level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292608" y="1207008"/>
              <a:ext cx="2606040" cy="329184"/>
            </a:xfrm>
            <a:prstGeom prst="rect">
              <a:avLst/>
            </a:prstGeom>
            <a:noFill/>
            <a:ln/>
            <a:effectLst>
              <a:outerShdw blurRad="50800" dist="12700" dir="8100000" algn="bl" rotWithShape="0">
                <a:srgbClr val="FFB800">
                  <a:alpha val="55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Arduino Mega</a:t>
              </a:r>
              <a:endParaRPr lang="en-US" sz="1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92608" y="1536192"/>
              <a:ext cx="2606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ATmega2560 · 16 MHz · 8 KB RAM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395728" y="175564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FFB800"/>
                  </a:solidFill>
                </a:rPr>
                <a:t>5/10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92608" y="1956816"/>
              <a:ext cx="2606040" cy="91440"/>
            </a:xfrm>
            <a:prstGeom prst="rect">
              <a:avLst/>
            </a:prstGeom>
            <a:solidFill>
              <a:srgbClr val="0D3050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292608" y="1956816"/>
              <a:ext cx="1303020" cy="91440"/>
            </a:xfrm>
            <a:prstGeom prst="rect">
              <a:avLst/>
            </a:prstGeom>
            <a:solidFill>
              <a:srgbClr val="FFB800"/>
            </a:solidFill>
            <a:ln/>
            <a:effectLst>
              <a:outerShdw blurRad="76200" dist="12700" dir="8100000" algn="bl" rotWithShape="0">
                <a:srgbClr val="FFB800">
                  <a:alpha val="55000"/>
                </a:srgbClr>
              </a:outerShdw>
            </a:effectLst>
          </p:spPr>
        </p:sp>
        <p:sp>
          <p:nvSpPr>
            <p:cNvPr id="14" name="Text 12"/>
            <p:cNvSpPr/>
            <p:nvPr/>
          </p:nvSpPr>
          <p:spPr>
            <a:xfrm>
              <a:off x="292608" y="212140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CPU</a:t>
              </a:r>
              <a:endParaRPr lang="en-US" sz="9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481328" y="212140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E5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 MHz single-core</a:t>
              </a:r>
              <a:endParaRPr lang="en-US" sz="9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92608" y="2340864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RAM</a:t>
              </a:r>
              <a:endParaRPr lang="en-US" sz="9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481328" y="2340864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 KB SRAM</a:t>
              </a:r>
              <a:endParaRPr lang="en-US" sz="9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92608" y="2560320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Wi-Fi</a:t>
              </a:r>
              <a:endParaRPr lang="en-US" sz="9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481328" y="2560320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None</a:t>
              </a:r>
              <a:endParaRPr lang="en-US" sz="9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2608" y="2779776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Camera</a:t>
              </a:r>
              <a:endParaRPr lang="en-US" sz="9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1481328" y="277977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Not feasible</a:t>
              </a:r>
              <a:endParaRPr lang="en-US" sz="9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292608" y="2999232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GPIO</a:t>
              </a:r>
              <a:endParaRPr lang="en-US" sz="9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481328" y="2999232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54 digital</a:t>
              </a:r>
              <a:endParaRPr lang="en-US" sz="9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92608" y="321868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</a:t>
              </a:r>
              <a:endParaRPr lang="en-US" sz="9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1481328" y="321868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₹400–600</a:t>
              </a:r>
              <a:endParaRPr lang="en-US" sz="95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292608" y="3474720"/>
              <a:ext cx="2606040" cy="0"/>
            </a:xfrm>
            <a:prstGeom prst="line">
              <a:avLst/>
            </a:prstGeom>
            <a:noFill/>
            <a:ln w="6350">
              <a:solidFill>
                <a:srgbClr val="0D3050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292608" y="3511296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</a:t>
              </a:r>
              <a:endParaRPr lang="en-US" sz="9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292608" y="3758184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29" name="Text 27"/>
            <p:cNvSpPr/>
            <p:nvPr/>
          </p:nvSpPr>
          <p:spPr>
            <a:xfrm>
              <a:off x="292608" y="374904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512064" y="373075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Rock-solid real-time motor control</a:t>
              </a:r>
              <a:endParaRPr lang="en-US" sz="95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292608" y="4005072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2" name="Text 30"/>
            <p:cNvSpPr/>
            <p:nvPr/>
          </p:nvSpPr>
          <p:spPr>
            <a:xfrm>
              <a:off x="292608" y="399592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512064" y="397764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Beginner-friendly, huge community</a:t>
              </a:r>
              <a:endParaRPr lang="en-US" sz="95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292608" y="4251960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5" name="Text 33"/>
            <p:cNvSpPr/>
            <p:nvPr/>
          </p:nvSpPr>
          <p:spPr>
            <a:xfrm>
              <a:off x="292608" y="424281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512064" y="422452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 PWM pins for motors + servos</a:t>
              </a:r>
              <a:endParaRPr lang="en-US" sz="95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292608" y="452628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</a:t>
              </a:r>
              <a:endParaRPr lang="en-US" sz="9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292608" y="4773168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39" name="Text 37"/>
            <p:cNvSpPr/>
            <p:nvPr/>
          </p:nvSpPr>
          <p:spPr>
            <a:xfrm>
              <a:off x="292608" y="4764024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512064" y="4745736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Cannot process camera frames</a:t>
              </a:r>
              <a:endParaRPr lang="en-US" sz="95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292608" y="5020056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42" name="Text 40"/>
            <p:cNvSpPr/>
            <p:nvPr/>
          </p:nvSpPr>
          <p:spPr>
            <a:xfrm>
              <a:off x="292608" y="5010912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512064" y="4992624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8KB RAM too tight for maze map</a:t>
              </a:r>
              <a:endParaRPr lang="en-US" sz="95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292608" y="5266944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45" name="Text 43"/>
            <p:cNvSpPr/>
            <p:nvPr/>
          </p:nvSpPr>
          <p:spPr>
            <a:xfrm>
              <a:off x="292608" y="525780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512064" y="523951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wireless — cable debug only</a:t>
              </a:r>
              <a:endParaRPr lang="en-US" sz="950" dirty="0"/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6533D724-36D1-E5B6-D167-DC552CCB79BD}"/>
              </a:ext>
            </a:extLst>
          </p:cNvPr>
          <p:cNvGrpSpPr/>
          <p:nvPr/>
        </p:nvGrpSpPr>
        <p:grpSpPr>
          <a:xfrm>
            <a:off x="6144768" y="804671"/>
            <a:ext cx="2816352" cy="4338829"/>
            <a:chOff x="6144768" y="804671"/>
            <a:chExt cx="2816352" cy="4910327"/>
          </a:xfrm>
        </p:grpSpPr>
        <p:sp>
          <p:nvSpPr>
            <p:cNvPr id="92" name="Shape 90"/>
            <p:cNvSpPr/>
            <p:nvPr/>
          </p:nvSpPr>
          <p:spPr>
            <a:xfrm>
              <a:off x="6144768" y="804671"/>
              <a:ext cx="2816352" cy="4910327"/>
            </a:xfrm>
            <a:prstGeom prst="rect">
              <a:avLst/>
            </a:prstGeom>
            <a:solidFill>
              <a:srgbClr val="061828"/>
            </a:solidFill>
            <a:ln w="15240">
              <a:solidFill>
                <a:srgbClr val="6B7BFF"/>
              </a:solidFill>
              <a:prstDash val="solid"/>
            </a:ln>
            <a:effectLst>
              <a:outerShdw blurRad="152400" dist="12700" dir="8100000" algn="bl" rotWithShape="0">
                <a:srgbClr val="6B7BFF">
                  <a:alpha val="55000"/>
                </a:srgbClr>
              </a:outerShdw>
            </a:effectLst>
          </p:spPr>
        </p:sp>
        <p:sp>
          <p:nvSpPr>
            <p:cNvPr id="93" name="Shape 91"/>
            <p:cNvSpPr/>
            <p:nvPr/>
          </p:nvSpPr>
          <p:spPr>
            <a:xfrm>
              <a:off x="6236208" y="877824"/>
              <a:ext cx="1463040" cy="274320"/>
            </a:xfrm>
            <a:prstGeom prst="rect">
              <a:avLst/>
            </a:prstGeom>
            <a:solidFill>
              <a:srgbClr val="6B7BFF">
                <a:alpha val="22000"/>
              </a:srgbClr>
            </a:solidFill>
            <a:ln w="10160">
              <a:solidFill>
                <a:srgbClr val="6B7BFF"/>
              </a:solidFill>
              <a:prstDash val="solid"/>
            </a:ln>
            <a:effectLst>
              <a:outerShdw blurRad="101600" dist="12700" dir="8100000" algn="bl" rotWithShape="0">
                <a:srgbClr val="6B7BFF">
                  <a:alpha val="55000"/>
                </a:srgbClr>
              </a:outerShdw>
            </a:effectLst>
          </p:spPr>
        </p:sp>
        <p:sp>
          <p:nvSpPr>
            <p:cNvPr id="94" name="Text 92"/>
            <p:cNvSpPr/>
            <p:nvPr/>
          </p:nvSpPr>
          <p:spPr>
            <a:xfrm>
              <a:off x="6236208" y="896112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6B7BFF"/>
                  </a:solidFill>
                </a:rPr>
                <a:t>Overkill</a:t>
              </a:r>
              <a:endParaRPr lang="en-US" sz="1000" dirty="0"/>
            </a:p>
          </p:txBody>
        </p:sp>
        <p:sp>
          <p:nvSpPr>
            <p:cNvPr id="95" name="Text 93"/>
            <p:cNvSpPr/>
            <p:nvPr/>
          </p:nvSpPr>
          <p:spPr>
            <a:xfrm>
              <a:off x="6236208" y="1207008"/>
              <a:ext cx="2606040" cy="329184"/>
            </a:xfrm>
            <a:prstGeom prst="rect">
              <a:avLst/>
            </a:prstGeom>
            <a:noFill/>
            <a:ln/>
            <a:effectLst>
              <a:outerShdw blurRad="50800" dist="12700" dir="8100000" algn="bl" rotWithShape="0">
                <a:srgbClr val="6B7BFF">
                  <a:alpha val="55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Raspberry Pi</a:t>
              </a:r>
              <a:endParaRPr lang="en-US" sz="1400" dirty="0"/>
            </a:p>
          </p:txBody>
        </p:sp>
        <p:sp>
          <p:nvSpPr>
            <p:cNvPr id="96" name="Text 94"/>
            <p:cNvSpPr/>
            <p:nvPr/>
          </p:nvSpPr>
          <p:spPr>
            <a:xfrm>
              <a:off x="6236208" y="1536192"/>
              <a:ext cx="2606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ARM Cortex-A · 1.5 GHz · 1-8 GB</a:t>
              </a:r>
              <a:endParaRPr lang="en-US" sz="900" dirty="0"/>
            </a:p>
          </p:txBody>
        </p:sp>
        <p:sp>
          <p:nvSpPr>
            <p:cNvPr id="97" name="Text 95"/>
            <p:cNvSpPr/>
            <p:nvPr/>
          </p:nvSpPr>
          <p:spPr>
            <a:xfrm>
              <a:off x="8339328" y="175564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6B7BFF"/>
                  </a:solidFill>
                </a:rPr>
                <a:t>6/10</a:t>
              </a:r>
              <a:endParaRPr lang="en-US" sz="1000" dirty="0"/>
            </a:p>
          </p:txBody>
        </p:sp>
        <p:sp>
          <p:nvSpPr>
            <p:cNvPr id="98" name="Shape 96"/>
            <p:cNvSpPr/>
            <p:nvPr/>
          </p:nvSpPr>
          <p:spPr>
            <a:xfrm>
              <a:off x="6236208" y="1956816"/>
              <a:ext cx="2606040" cy="91440"/>
            </a:xfrm>
            <a:prstGeom prst="rect">
              <a:avLst/>
            </a:prstGeom>
            <a:solidFill>
              <a:srgbClr val="0D3050"/>
            </a:solidFill>
            <a:ln/>
          </p:spPr>
        </p:sp>
        <p:sp>
          <p:nvSpPr>
            <p:cNvPr id="99" name="Shape 97"/>
            <p:cNvSpPr/>
            <p:nvPr/>
          </p:nvSpPr>
          <p:spPr>
            <a:xfrm>
              <a:off x="6236208" y="1956816"/>
              <a:ext cx="1563624" cy="91440"/>
            </a:xfrm>
            <a:prstGeom prst="rect">
              <a:avLst/>
            </a:prstGeom>
            <a:solidFill>
              <a:srgbClr val="6B7BFF"/>
            </a:solidFill>
            <a:ln/>
            <a:effectLst>
              <a:outerShdw blurRad="76200" dist="12700" dir="8100000" algn="bl" rotWithShape="0">
                <a:srgbClr val="6B7BFF">
                  <a:alpha val="55000"/>
                </a:srgbClr>
              </a:outerShdw>
            </a:effectLst>
          </p:spPr>
        </p:sp>
        <p:sp>
          <p:nvSpPr>
            <p:cNvPr id="100" name="Text 98"/>
            <p:cNvSpPr/>
            <p:nvPr/>
          </p:nvSpPr>
          <p:spPr>
            <a:xfrm>
              <a:off x="6236208" y="212140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CPU</a:t>
              </a:r>
              <a:endParaRPr lang="en-US" sz="950" dirty="0"/>
            </a:p>
          </p:txBody>
        </p:sp>
        <p:sp>
          <p:nvSpPr>
            <p:cNvPr id="101" name="Text 99"/>
            <p:cNvSpPr/>
            <p:nvPr/>
          </p:nvSpPr>
          <p:spPr>
            <a:xfrm>
              <a:off x="7424928" y="212140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E5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1.5+ GHz quad-core</a:t>
              </a:r>
              <a:endParaRPr lang="en-US" sz="950" dirty="0"/>
            </a:p>
          </p:txBody>
        </p:sp>
        <p:sp>
          <p:nvSpPr>
            <p:cNvPr id="102" name="Text 100"/>
            <p:cNvSpPr/>
            <p:nvPr/>
          </p:nvSpPr>
          <p:spPr>
            <a:xfrm>
              <a:off x="6236208" y="2340864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RAM</a:t>
              </a:r>
              <a:endParaRPr lang="en-US" sz="950" dirty="0"/>
            </a:p>
          </p:txBody>
        </p:sp>
        <p:sp>
          <p:nvSpPr>
            <p:cNvPr id="103" name="Text 101"/>
            <p:cNvSpPr/>
            <p:nvPr/>
          </p:nvSpPr>
          <p:spPr>
            <a:xfrm>
              <a:off x="7424928" y="2340864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1–8 GB</a:t>
              </a:r>
              <a:endParaRPr lang="en-US" sz="950" dirty="0"/>
            </a:p>
          </p:txBody>
        </p:sp>
        <p:sp>
          <p:nvSpPr>
            <p:cNvPr id="104" name="Text 102"/>
            <p:cNvSpPr/>
            <p:nvPr/>
          </p:nvSpPr>
          <p:spPr>
            <a:xfrm>
              <a:off x="6236208" y="2560320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Wi-Fi</a:t>
              </a:r>
              <a:endParaRPr lang="en-US" sz="950" dirty="0"/>
            </a:p>
          </p:txBody>
        </p:sp>
        <p:sp>
          <p:nvSpPr>
            <p:cNvPr id="105" name="Text 103"/>
            <p:cNvSpPr/>
            <p:nvPr/>
          </p:nvSpPr>
          <p:spPr>
            <a:xfrm>
              <a:off x="7424928" y="2560320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Built-in</a:t>
              </a:r>
              <a:endParaRPr lang="en-US" sz="950" dirty="0"/>
            </a:p>
          </p:txBody>
        </p:sp>
        <p:sp>
          <p:nvSpPr>
            <p:cNvPr id="106" name="Text 104"/>
            <p:cNvSpPr/>
            <p:nvPr/>
          </p:nvSpPr>
          <p:spPr>
            <a:xfrm>
              <a:off x="6236208" y="2779776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Camera</a:t>
              </a:r>
              <a:endParaRPr lang="en-US" sz="950" dirty="0"/>
            </a:p>
          </p:txBody>
        </p:sp>
        <p:sp>
          <p:nvSpPr>
            <p:cNvPr id="107" name="Text 105"/>
            <p:cNvSpPr/>
            <p:nvPr/>
          </p:nvSpPr>
          <p:spPr>
            <a:xfrm>
              <a:off x="7424928" y="277977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Full OpenCV + ML</a:t>
              </a:r>
              <a:endParaRPr lang="en-US" sz="950" dirty="0"/>
            </a:p>
          </p:txBody>
        </p:sp>
        <p:sp>
          <p:nvSpPr>
            <p:cNvPr id="108" name="Text 106"/>
            <p:cNvSpPr/>
            <p:nvPr/>
          </p:nvSpPr>
          <p:spPr>
            <a:xfrm>
              <a:off x="6236208" y="2999232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GPIO</a:t>
              </a:r>
              <a:endParaRPr lang="en-US" sz="950" dirty="0"/>
            </a:p>
          </p:txBody>
        </p:sp>
        <p:sp>
          <p:nvSpPr>
            <p:cNvPr id="109" name="Text 107"/>
            <p:cNvSpPr/>
            <p:nvPr/>
          </p:nvSpPr>
          <p:spPr>
            <a:xfrm>
              <a:off x="7424928" y="2999232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26 usable</a:t>
              </a:r>
              <a:endParaRPr lang="en-US" sz="950" dirty="0"/>
            </a:p>
          </p:txBody>
        </p:sp>
        <p:sp>
          <p:nvSpPr>
            <p:cNvPr id="110" name="Text 108"/>
            <p:cNvSpPr/>
            <p:nvPr/>
          </p:nvSpPr>
          <p:spPr>
            <a:xfrm>
              <a:off x="6236208" y="321868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</a:t>
              </a:r>
              <a:endParaRPr lang="en-US" sz="950" dirty="0"/>
            </a:p>
          </p:txBody>
        </p:sp>
        <p:sp>
          <p:nvSpPr>
            <p:cNvPr id="111" name="Text 109"/>
            <p:cNvSpPr/>
            <p:nvPr/>
          </p:nvSpPr>
          <p:spPr>
            <a:xfrm>
              <a:off x="7424928" y="321868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₹4,000+</a:t>
              </a:r>
              <a:endParaRPr lang="en-US" sz="950" dirty="0"/>
            </a:p>
          </p:txBody>
        </p:sp>
        <p:sp>
          <p:nvSpPr>
            <p:cNvPr id="112" name="Shape 110"/>
            <p:cNvSpPr/>
            <p:nvPr/>
          </p:nvSpPr>
          <p:spPr>
            <a:xfrm>
              <a:off x="6236208" y="3474720"/>
              <a:ext cx="2606040" cy="0"/>
            </a:xfrm>
            <a:prstGeom prst="line">
              <a:avLst/>
            </a:prstGeom>
            <a:noFill/>
            <a:ln w="6350">
              <a:solidFill>
                <a:srgbClr val="0D3050"/>
              </a:solidFill>
              <a:prstDash val="solid"/>
            </a:ln>
          </p:spPr>
        </p:sp>
        <p:sp>
          <p:nvSpPr>
            <p:cNvPr id="113" name="Text 111"/>
            <p:cNvSpPr/>
            <p:nvPr/>
          </p:nvSpPr>
          <p:spPr>
            <a:xfrm>
              <a:off x="6236208" y="3511296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</a:t>
              </a:r>
              <a:endParaRPr lang="en-US" sz="900" dirty="0"/>
            </a:p>
          </p:txBody>
        </p:sp>
        <p:sp>
          <p:nvSpPr>
            <p:cNvPr id="114" name="Shape 112"/>
            <p:cNvSpPr/>
            <p:nvPr/>
          </p:nvSpPr>
          <p:spPr>
            <a:xfrm>
              <a:off x="6236208" y="3758184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15" name="Text 113"/>
            <p:cNvSpPr/>
            <p:nvPr/>
          </p:nvSpPr>
          <p:spPr>
            <a:xfrm>
              <a:off x="6236208" y="374904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116" name="Text 114"/>
            <p:cNvSpPr/>
            <p:nvPr/>
          </p:nvSpPr>
          <p:spPr>
            <a:xfrm>
              <a:off x="6455664" y="373075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Full Linux — Python, OpenCV</a:t>
              </a:r>
              <a:endParaRPr lang="en-US" sz="950" dirty="0"/>
            </a:p>
          </p:txBody>
        </p:sp>
        <p:sp>
          <p:nvSpPr>
            <p:cNvPr id="117" name="Shape 115"/>
            <p:cNvSpPr/>
            <p:nvPr/>
          </p:nvSpPr>
          <p:spPr>
            <a:xfrm>
              <a:off x="6236208" y="4005072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18" name="Text 116"/>
            <p:cNvSpPr/>
            <p:nvPr/>
          </p:nvSpPr>
          <p:spPr>
            <a:xfrm>
              <a:off x="6236208" y="399592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119" name="Text 117"/>
            <p:cNvSpPr/>
            <p:nvPr/>
          </p:nvSpPr>
          <p:spPr>
            <a:xfrm>
              <a:off x="6455664" y="397764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Best for Final Round victims</a:t>
              </a:r>
              <a:endParaRPr lang="en-US" sz="950" dirty="0"/>
            </a:p>
          </p:txBody>
        </p:sp>
        <p:sp>
          <p:nvSpPr>
            <p:cNvPr id="120" name="Shape 118"/>
            <p:cNvSpPr/>
            <p:nvPr/>
          </p:nvSpPr>
          <p:spPr>
            <a:xfrm>
              <a:off x="6236208" y="4251960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21" name="Text 119"/>
            <p:cNvSpPr/>
            <p:nvPr/>
          </p:nvSpPr>
          <p:spPr>
            <a:xfrm>
              <a:off x="6236208" y="424281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122" name="Text 120"/>
            <p:cNvSpPr/>
            <p:nvPr/>
          </p:nvSpPr>
          <p:spPr>
            <a:xfrm>
              <a:off x="6455664" y="422452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Huge processing power</a:t>
              </a:r>
              <a:endParaRPr lang="en-US" sz="950" dirty="0"/>
            </a:p>
          </p:txBody>
        </p:sp>
        <p:sp>
          <p:nvSpPr>
            <p:cNvPr id="123" name="Text 121"/>
            <p:cNvSpPr/>
            <p:nvPr/>
          </p:nvSpPr>
          <p:spPr>
            <a:xfrm>
              <a:off x="6236208" y="452628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</a:t>
              </a:r>
              <a:endParaRPr lang="en-US" sz="900" dirty="0"/>
            </a:p>
          </p:txBody>
        </p:sp>
        <p:sp>
          <p:nvSpPr>
            <p:cNvPr id="124" name="Shape 122"/>
            <p:cNvSpPr/>
            <p:nvPr/>
          </p:nvSpPr>
          <p:spPr>
            <a:xfrm>
              <a:off x="6236208" y="4773168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25" name="Text 123"/>
            <p:cNvSpPr/>
            <p:nvPr/>
          </p:nvSpPr>
          <p:spPr>
            <a:xfrm>
              <a:off x="6236208" y="4764024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26" name="Text 124"/>
            <p:cNvSpPr/>
            <p:nvPr/>
          </p:nvSpPr>
          <p:spPr>
            <a:xfrm>
              <a:off x="6455664" y="4745736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Linux jitter = motor drift</a:t>
              </a:r>
              <a:endParaRPr lang="en-US" sz="950" dirty="0"/>
            </a:p>
          </p:txBody>
        </p:sp>
        <p:sp>
          <p:nvSpPr>
            <p:cNvPr id="127" name="Shape 125"/>
            <p:cNvSpPr/>
            <p:nvPr/>
          </p:nvSpPr>
          <p:spPr>
            <a:xfrm>
              <a:off x="6236208" y="5020056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28" name="Text 126"/>
            <p:cNvSpPr/>
            <p:nvPr/>
          </p:nvSpPr>
          <p:spPr>
            <a:xfrm>
              <a:off x="6236208" y="5010912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29" name="Text 127"/>
            <p:cNvSpPr/>
            <p:nvPr/>
          </p:nvSpPr>
          <p:spPr>
            <a:xfrm>
              <a:off x="6455664" y="4992624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Needs Arduino for motors</a:t>
              </a:r>
              <a:endParaRPr lang="en-US" sz="950" dirty="0"/>
            </a:p>
          </p:txBody>
        </p:sp>
        <p:sp>
          <p:nvSpPr>
            <p:cNvPr id="130" name="Shape 128"/>
            <p:cNvSpPr/>
            <p:nvPr/>
          </p:nvSpPr>
          <p:spPr>
            <a:xfrm>
              <a:off x="6236208" y="5266944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31" name="Text 129"/>
            <p:cNvSpPr/>
            <p:nvPr/>
          </p:nvSpPr>
          <p:spPr>
            <a:xfrm>
              <a:off x="6236208" y="525780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32" name="Text 130"/>
            <p:cNvSpPr/>
            <p:nvPr/>
          </p:nvSpPr>
          <p:spPr>
            <a:xfrm>
              <a:off x="6455664" y="523951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30s boot time</a:t>
              </a:r>
              <a:endParaRPr lang="en-US" sz="950" dirty="0"/>
            </a:p>
          </p:txBody>
        </p:sp>
        <p:sp>
          <p:nvSpPr>
            <p:cNvPr id="133" name="Shape 131"/>
            <p:cNvSpPr/>
            <p:nvPr/>
          </p:nvSpPr>
          <p:spPr>
            <a:xfrm>
              <a:off x="6236208" y="5513832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34" name="Text 132"/>
            <p:cNvSpPr/>
            <p:nvPr/>
          </p:nvSpPr>
          <p:spPr>
            <a:xfrm>
              <a:off x="6236208" y="550468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35" name="Text 133"/>
            <p:cNvSpPr/>
            <p:nvPr/>
          </p:nvSpPr>
          <p:spPr>
            <a:xfrm>
              <a:off x="6455664" y="548640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Power hungry — big battery</a:t>
              </a:r>
              <a:endParaRPr lang="en-US" sz="950" dirty="0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C48F3CF-BDEA-9881-097D-E5FEED609AA3}"/>
              </a:ext>
            </a:extLst>
          </p:cNvPr>
          <p:cNvGrpSpPr/>
          <p:nvPr/>
        </p:nvGrpSpPr>
        <p:grpSpPr>
          <a:xfrm>
            <a:off x="3172968" y="804672"/>
            <a:ext cx="2816352" cy="4338828"/>
            <a:chOff x="3172968" y="804672"/>
            <a:chExt cx="2816352" cy="4910328"/>
          </a:xfrm>
        </p:grpSpPr>
        <p:sp>
          <p:nvSpPr>
            <p:cNvPr id="47" name="Shape 45"/>
            <p:cNvSpPr/>
            <p:nvPr/>
          </p:nvSpPr>
          <p:spPr>
            <a:xfrm>
              <a:off x="3172968" y="804672"/>
              <a:ext cx="2816352" cy="4910328"/>
            </a:xfrm>
            <a:prstGeom prst="rect">
              <a:avLst/>
            </a:prstGeom>
            <a:solidFill>
              <a:srgbClr val="061828"/>
            </a:solidFill>
            <a:ln w="25400">
              <a:solidFill>
                <a:srgbClr val="00FF87"/>
              </a:solidFill>
              <a:prstDash val="solid"/>
            </a:ln>
            <a:effectLst>
              <a:outerShdw blurRad="254000" dist="12700" dir="8100000" algn="bl" rotWithShape="0">
                <a:srgbClr val="00FF87">
                  <a:alpha val="70000"/>
                </a:srgbClr>
              </a:outerShdw>
            </a:effectLst>
          </p:spPr>
        </p:sp>
        <p:sp>
          <p:nvSpPr>
            <p:cNvPr id="48" name="Shape 46"/>
            <p:cNvSpPr/>
            <p:nvPr/>
          </p:nvSpPr>
          <p:spPr>
            <a:xfrm>
              <a:off x="3172968" y="804672"/>
              <a:ext cx="2816352" cy="54864"/>
            </a:xfrm>
            <a:prstGeom prst="rect">
              <a:avLst/>
            </a:prstGeom>
            <a:solidFill>
              <a:srgbClr val="00FF87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3264408" y="877824"/>
              <a:ext cx="1463040" cy="274320"/>
            </a:xfrm>
            <a:prstGeom prst="rect">
              <a:avLst/>
            </a:prstGeom>
            <a:solidFill>
              <a:srgbClr val="00FF87">
                <a:alpha val="22000"/>
              </a:srgbClr>
            </a:solidFill>
            <a:ln w="10160">
              <a:solidFill>
                <a:srgbClr val="00FF87"/>
              </a:solidFill>
              <a:prstDash val="solid"/>
            </a:ln>
            <a:effectLst>
              <a:outerShdw blurRad="1016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50" name="Text 48"/>
            <p:cNvSpPr/>
            <p:nvPr/>
          </p:nvSpPr>
          <p:spPr>
            <a:xfrm>
              <a:off x="3264408" y="896112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FF87"/>
                  </a:solidFill>
                </a:rPr>
                <a:t>Recommended</a:t>
              </a:r>
              <a:endParaRPr lang="en-US" sz="10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3264408" y="1207008"/>
              <a:ext cx="2606040" cy="329184"/>
            </a:xfrm>
            <a:prstGeom prst="rect">
              <a:avLst/>
            </a:prstGeom>
            <a:noFill/>
            <a:ln/>
            <a:effectLst>
              <a:outerShdw blurRad="50800" dist="12700" dir="8100000" algn="bl" rotWithShape="0">
                <a:srgbClr val="00FF87">
                  <a:alpha val="55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ESP32</a:t>
              </a:r>
              <a:endParaRPr lang="en-US" sz="14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3264408" y="1536192"/>
              <a:ext cx="2606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Dual-core LX6 · 240 MHz · 520 KB</a:t>
              </a:r>
              <a:endParaRPr lang="en-US" sz="9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5367528" y="175564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00FF87"/>
                  </a:solidFill>
                </a:rPr>
                <a:t>9/10</a:t>
              </a:r>
              <a:endParaRPr lang="en-US" sz="10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3264408" y="1956816"/>
              <a:ext cx="2606040" cy="91440"/>
            </a:xfrm>
            <a:prstGeom prst="rect">
              <a:avLst/>
            </a:prstGeom>
            <a:solidFill>
              <a:srgbClr val="0D3050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3264408" y="1956816"/>
              <a:ext cx="2345436" cy="91440"/>
            </a:xfrm>
            <a:prstGeom prst="rect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56" name="Text 54"/>
            <p:cNvSpPr/>
            <p:nvPr/>
          </p:nvSpPr>
          <p:spPr>
            <a:xfrm>
              <a:off x="3264408" y="212140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CPU</a:t>
              </a:r>
              <a:endParaRPr lang="en-US" sz="95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4453128" y="212140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E5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240 MHz dual-core</a:t>
              </a:r>
              <a:endParaRPr lang="en-US" sz="95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3264408" y="2340864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RAM</a:t>
              </a:r>
              <a:endParaRPr lang="en-US" sz="95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4453128" y="2340864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520 KB SRAM</a:t>
              </a:r>
              <a:endParaRPr lang="en-US" sz="95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3264408" y="2560320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Wi-Fi</a:t>
              </a:r>
              <a:endParaRPr lang="en-US" sz="95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4453128" y="2560320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Built-in + BLE</a:t>
              </a:r>
              <a:endParaRPr lang="en-US" sz="95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3264408" y="2779776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Camera</a:t>
              </a:r>
              <a:endParaRPr lang="en-US" sz="95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4453128" y="277977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ESP32-CAM module</a:t>
              </a:r>
              <a:endParaRPr lang="en-US" sz="95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3264408" y="2999232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GPIO</a:t>
              </a:r>
              <a:endParaRPr lang="en-US" sz="95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4453128" y="2999232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34 usable pins</a:t>
              </a:r>
              <a:endParaRPr lang="en-US" sz="950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3264408" y="321868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</a:t>
              </a:r>
              <a:endParaRPr lang="en-US" sz="95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4453128" y="321868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₹350–450</a:t>
              </a:r>
              <a:endParaRPr lang="en-US" sz="950" dirty="0"/>
            </a:p>
          </p:txBody>
        </p:sp>
        <p:sp>
          <p:nvSpPr>
            <p:cNvPr id="68" name="Shape 66"/>
            <p:cNvSpPr/>
            <p:nvPr/>
          </p:nvSpPr>
          <p:spPr>
            <a:xfrm>
              <a:off x="3264408" y="3474720"/>
              <a:ext cx="2606040" cy="0"/>
            </a:xfrm>
            <a:prstGeom prst="line">
              <a:avLst/>
            </a:prstGeom>
            <a:noFill/>
            <a:ln w="6350">
              <a:solidFill>
                <a:srgbClr val="0D3050"/>
              </a:solidFill>
              <a:prstDash val="solid"/>
            </a:ln>
          </p:spPr>
        </p:sp>
        <p:sp>
          <p:nvSpPr>
            <p:cNvPr id="69" name="Text 67"/>
            <p:cNvSpPr/>
            <p:nvPr/>
          </p:nvSpPr>
          <p:spPr>
            <a:xfrm>
              <a:off x="3264408" y="3511296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</a:t>
              </a:r>
              <a:endParaRPr lang="en-US" sz="900" dirty="0"/>
            </a:p>
          </p:txBody>
        </p:sp>
        <p:sp>
          <p:nvSpPr>
            <p:cNvPr id="70" name="Shape 68"/>
            <p:cNvSpPr/>
            <p:nvPr/>
          </p:nvSpPr>
          <p:spPr>
            <a:xfrm>
              <a:off x="3264408" y="3758184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71" name="Text 69"/>
            <p:cNvSpPr/>
            <p:nvPr/>
          </p:nvSpPr>
          <p:spPr>
            <a:xfrm>
              <a:off x="3264408" y="374904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72" name="Text 70"/>
            <p:cNvSpPr/>
            <p:nvPr/>
          </p:nvSpPr>
          <p:spPr>
            <a:xfrm>
              <a:off x="3483864" y="373075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Dual core: motors on C0, logic on C1</a:t>
              </a:r>
              <a:endParaRPr lang="en-US" sz="950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3264408" y="4005072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74" name="Text 72"/>
            <p:cNvSpPr/>
            <p:nvPr/>
          </p:nvSpPr>
          <p:spPr>
            <a:xfrm>
              <a:off x="3264408" y="399592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3483864" y="397764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ESP32-CAM for tile detection</a:t>
              </a:r>
              <a:endParaRPr lang="en-US" sz="95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3264408" y="4251960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77" name="Text 75"/>
            <p:cNvSpPr/>
            <p:nvPr/>
          </p:nvSpPr>
          <p:spPr>
            <a:xfrm>
              <a:off x="3264408" y="424281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78" name="Text 76"/>
            <p:cNvSpPr/>
            <p:nvPr/>
          </p:nvSpPr>
          <p:spPr>
            <a:xfrm>
              <a:off x="3483864" y="422452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Built-in Wi-Fi for live debug</a:t>
              </a:r>
              <a:endParaRPr lang="en-US" sz="950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3264408" y="4498848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80" name="Text 78"/>
            <p:cNvSpPr/>
            <p:nvPr/>
          </p:nvSpPr>
          <p:spPr>
            <a:xfrm>
              <a:off x="3264408" y="4489704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81" name="Text 79"/>
            <p:cNvSpPr/>
            <p:nvPr/>
          </p:nvSpPr>
          <p:spPr>
            <a:xfrm>
              <a:off x="3483864" y="4471416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Handles all sensors simultaneously</a:t>
              </a:r>
              <a:endParaRPr lang="en-US" sz="950" dirty="0"/>
            </a:p>
          </p:txBody>
        </p:sp>
        <p:sp>
          <p:nvSpPr>
            <p:cNvPr id="82" name="Text 80"/>
            <p:cNvSpPr/>
            <p:nvPr/>
          </p:nvSpPr>
          <p:spPr>
            <a:xfrm>
              <a:off x="3264408" y="4773168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</a:t>
              </a:r>
              <a:endParaRPr lang="en-US" sz="900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3264408" y="5020056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84" name="Text 82"/>
            <p:cNvSpPr/>
            <p:nvPr/>
          </p:nvSpPr>
          <p:spPr>
            <a:xfrm>
              <a:off x="3264408" y="5010912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85" name="Text 83"/>
            <p:cNvSpPr/>
            <p:nvPr/>
          </p:nvSpPr>
          <p:spPr>
            <a:xfrm>
              <a:off x="3483864" y="4992624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GPIO is 3.3V — needs level shifter</a:t>
              </a:r>
              <a:endParaRPr lang="en-US" sz="950" dirty="0"/>
            </a:p>
          </p:txBody>
        </p:sp>
        <p:sp>
          <p:nvSpPr>
            <p:cNvPr id="86" name="Shape 84"/>
            <p:cNvSpPr/>
            <p:nvPr/>
          </p:nvSpPr>
          <p:spPr>
            <a:xfrm>
              <a:off x="3264408" y="5266944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87" name="Text 85"/>
            <p:cNvSpPr/>
            <p:nvPr/>
          </p:nvSpPr>
          <p:spPr>
            <a:xfrm>
              <a:off x="3264408" y="525780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88" name="Text 86"/>
            <p:cNvSpPr/>
            <p:nvPr/>
          </p:nvSpPr>
          <p:spPr>
            <a:xfrm>
              <a:off x="3483864" y="523951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Cannot run full OpenCV</a:t>
              </a:r>
              <a:endParaRPr lang="en-US" sz="950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3264408" y="5513832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90" name="Text 88"/>
            <p:cNvSpPr/>
            <p:nvPr/>
          </p:nvSpPr>
          <p:spPr>
            <a:xfrm>
              <a:off x="3264408" y="550468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91" name="Text 89"/>
            <p:cNvSpPr/>
            <p:nvPr/>
          </p:nvSpPr>
          <p:spPr>
            <a:xfrm>
              <a:off x="3483864" y="548640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Simple colour thresholding only</a:t>
              </a:r>
              <a:endParaRPr lang="en-US" sz="950" dirty="0"/>
            </a:p>
          </p:txBody>
        </p:sp>
        <p:sp>
          <p:nvSpPr>
            <p:cNvPr id="137" name="Text 78">
              <a:extLst>
                <a:ext uri="{FF2B5EF4-FFF2-40B4-BE49-F238E27FC236}">
                  <a16:creationId xmlns:a16="http://schemas.microsoft.com/office/drawing/2014/main" id="{507B4F07-2594-A410-EB2E-BEDA222269B1}"/>
                </a:ext>
              </a:extLst>
            </p:cNvPr>
            <p:cNvSpPr/>
            <p:nvPr/>
          </p:nvSpPr>
          <p:spPr>
            <a:xfrm>
              <a:off x="3416808" y="4642104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0081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66928"/>
          </a:xfrm>
          <a:prstGeom prst="rect">
            <a:avLst/>
          </a:prstGeom>
          <a:noFill/>
          <a:ln/>
          <a:effectLst>
            <a:outerShdw blurRad="254000" dist="12700" dir="8100000" algn="bl" rotWithShape="0">
              <a:srgbClr val="00E5FF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DRIVER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7512"/>
            <a:ext cx="9144000" cy="109728"/>
          </a:xfrm>
          <a:prstGeom prst="rect">
            <a:avLst/>
          </a:prstGeom>
          <a:solidFill>
            <a:srgbClr val="00E5FF">
              <a:alpha val="10000"/>
            </a:srgbClr>
          </a:solidFill>
          <a:ln/>
        </p:spPr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388CA44-135B-BDE4-AB46-9442D44C3591}"/>
              </a:ext>
            </a:extLst>
          </p:cNvPr>
          <p:cNvGrpSpPr/>
          <p:nvPr/>
        </p:nvGrpSpPr>
        <p:grpSpPr>
          <a:xfrm>
            <a:off x="201168" y="804672"/>
            <a:ext cx="2816352" cy="4338828"/>
            <a:chOff x="201168" y="804672"/>
            <a:chExt cx="2816352" cy="4901184"/>
          </a:xfrm>
        </p:grpSpPr>
        <p:sp>
          <p:nvSpPr>
            <p:cNvPr id="6" name="Shape 4"/>
            <p:cNvSpPr/>
            <p:nvPr/>
          </p:nvSpPr>
          <p:spPr>
            <a:xfrm>
              <a:off x="201168" y="804672"/>
              <a:ext cx="2816352" cy="4901184"/>
            </a:xfrm>
            <a:prstGeom prst="rect">
              <a:avLst/>
            </a:prstGeom>
            <a:solidFill>
              <a:srgbClr val="061828"/>
            </a:solidFill>
            <a:ln w="15240">
              <a:solidFill>
                <a:srgbClr val="FFB800"/>
              </a:solidFill>
              <a:prstDash val="solid"/>
            </a:ln>
            <a:effectLst>
              <a:outerShdw blurRad="152400" dist="12700" dir="8100000" algn="bl" rotWithShape="0">
                <a:srgbClr val="FFB800">
                  <a:alpha val="55000"/>
                </a:srgbClr>
              </a:outerShdw>
            </a:effectLst>
          </p:spPr>
        </p:sp>
        <p:sp>
          <p:nvSpPr>
            <p:cNvPr id="7" name="Shape 5"/>
            <p:cNvSpPr/>
            <p:nvPr/>
          </p:nvSpPr>
          <p:spPr>
            <a:xfrm>
              <a:off x="292608" y="877824"/>
              <a:ext cx="1463040" cy="274320"/>
            </a:xfrm>
            <a:prstGeom prst="rect">
              <a:avLst/>
            </a:prstGeom>
            <a:solidFill>
              <a:srgbClr val="FFB800">
                <a:alpha val="22000"/>
              </a:srgbClr>
            </a:solidFill>
            <a:ln w="10160">
              <a:solidFill>
                <a:srgbClr val="FFB800"/>
              </a:solidFill>
              <a:prstDash val="solid"/>
            </a:ln>
            <a:effectLst>
              <a:outerShdw blurRad="101600" dist="12700" dir="8100000" algn="bl" rotWithShape="0">
                <a:srgbClr val="FFB800">
                  <a:alpha val="55000"/>
                </a:srgbClr>
              </a:outerShdw>
            </a:effectLst>
          </p:spPr>
        </p:sp>
        <p:sp>
          <p:nvSpPr>
            <p:cNvPr id="8" name="Text 6"/>
            <p:cNvSpPr/>
            <p:nvPr/>
          </p:nvSpPr>
          <p:spPr>
            <a:xfrm>
              <a:off x="292608" y="896112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B800"/>
                  </a:solidFill>
                </a:rPr>
                <a:t>Budget Option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292608" y="1207008"/>
              <a:ext cx="2606040" cy="329184"/>
            </a:xfrm>
            <a:prstGeom prst="rect">
              <a:avLst/>
            </a:prstGeom>
            <a:noFill/>
            <a:ln/>
            <a:effectLst>
              <a:outerShdw blurRad="50800" dist="12700" dir="8100000" algn="bl" rotWithShape="0">
                <a:srgbClr val="FFB800">
                  <a:alpha val="55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L298N</a:t>
              </a:r>
              <a:endParaRPr lang="en-US" sz="1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92608" y="1536192"/>
              <a:ext cx="2606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Dual H-bridge · 2A · 5–35V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395728" y="175564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FFB800"/>
                  </a:solidFill>
                </a:rPr>
                <a:t>5/10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92608" y="1956816"/>
              <a:ext cx="2606040" cy="91440"/>
            </a:xfrm>
            <a:prstGeom prst="rect">
              <a:avLst/>
            </a:prstGeom>
            <a:solidFill>
              <a:srgbClr val="0D3050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292608" y="1956816"/>
              <a:ext cx="1303020" cy="91440"/>
            </a:xfrm>
            <a:prstGeom prst="rect">
              <a:avLst/>
            </a:prstGeom>
            <a:solidFill>
              <a:srgbClr val="FFB800"/>
            </a:solidFill>
            <a:ln/>
            <a:effectLst>
              <a:outerShdw blurRad="76200" dist="12700" dir="8100000" algn="bl" rotWithShape="0">
                <a:srgbClr val="FFB800">
                  <a:alpha val="55000"/>
                </a:srgbClr>
              </a:outerShdw>
            </a:effectLst>
          </p:spPr>
        </p:sp>
        <p:sp>
          <p:nvSpPr>
            <p:cNvPr id="14" name="Text 12"/>
            <p:cNvSpPr/>
            <p:nvPr/>
          </p:nvSpPr>
          <p:spPr>
            <a:xfrm>
              <a:off x="292608" y="212140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Max Current</a:t>
              </a:r>
              <a:endParaRPr lang="en-US" sz="9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481328" y="212140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E5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2A per channel</a:t>
              </a:r>
              <a:endParaRPr lang="en-US" sz="9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92608" y="2340864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Voltage</a:t>
              </a:r>
              <a:endParaRPr lang="en-US" sz="9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481328" y="2340864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5–35V</a:t>
              </a:r>
              <a:endParaRPr lang="en-US" sz="9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92608" y="2560320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Efficiency</a:t>
              </a:r>
              <a:endParaRPr lang="en-US" sz="9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481328" y="2560320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~60%</a:t>
              </a:r>
              <a:endParaRPr lang="en-US" sz="9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2608" y="2779776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Logic</a:t>
              </a:r>
              <a:endParaRPr lang="en-US" sz="9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1481328" y="277977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5V only</a:t>
              </a:r>
              <a:endParaRPr lang="en-US" sz="9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292608" y="2999232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Heat</a:t>
              </a:r>
              <a:endParaRPr lang="en-US" sz="9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481328" y="2999232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Very high — heatsink needed</a:t>
              </a:r>
              <a:endParaRPr lang="en-US" sz="9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92608" y="321868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</a:t>
              </a:r>
              <a:endParaRPr lang="en-US" sz="9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1481328" y="321868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₹70–120</a:t>
              </a:r>
              <a:endParaRPr lang="en-US" sz="95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292608" y="3474720"/>
              <a:ext cx="2606040" cy="0"/>
            </a:xfrm>
            <a:prstGeom prst="line">
              <a:avLst/>
            </a:prstGeom>
            <a:noFill/>
            <a:ln w="6350">
              <a:solidFill>
                <a:srgbClr val="0D3050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292608" y="3511296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</a:t>
              </a:r>
              <a:endParaRPr lang="en-US" sz="9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292608" y="3758184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29" name="Text 27"/>
            <p:cNvSpPr/>
            <p:nvPr/>
          </p:nvSpPr>
          <p:spPr>
            <a:xfrm>
              <a:off x="292608" y="374904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512064" y="373075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Cheapest, everywhere in India</a:t>
              </a:r>
              <a:endParaRPr lang="en-US" sz="95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292608" y="4005072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2" name="Text 30"/>
            <p:cNvSpPr/>
            <p:nvPr/>
          </p:nvSpPr>
          <p:spPr>
            <a:xfrm>
              <a:off x="292608" y="399592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512064" y="397764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Drives 2 motors per board</a:t>
              </a:r>
              <a:endParaRPr lang="en-US" sz="95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292608" y="4251960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5" name="Text 33"/>
            <p:cNvSpPr/>
            <p:nvPr/>
          </p:nvSpPr>
          <p:spPr>
            <a:xfrm>
              <a:off x="292608" y="424281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512064" y="422452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Simple wiring, tons of tutorials</a:t>
              </a:r>
              <a:endParaRPr lang="en-US" sz="95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292608" y="452628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</a:t>
              </a:r>
              <a:endParaRPr lang="en-US" sz="9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292608" y="4773168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39" name="Text 37"/>
            <p:cNvSpPr/>
            <p:nvPr/>
          </p:nvSpPr>
          <p:spPr>
            <a:xfrm>
              <a:off x="292608" y="4764024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512064" y="4745736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~40% power wasted as heat</a:t>
              </a:r>
              <a:endParaRPr lang="en-US" sz="95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292608" y="5020056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42" name="Text 40"/>
            <p:cNvSpPr/>
            <p:nvPr/>
          </p:nvSpPr>
          <p:spPr>
            <a:xfrm>
              <a:off x="292608" y="5010912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512064" y="4992624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Drops 2–3V from motor voltage</a:t>
              </a:r>
              <a:endParaRPr lang="en-US" sz="95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292608" y="5266944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45" name="Text 43"/>
            <p:cNvSpPr/>
            <p:nvPr/>
          </p:nvSpPr>
          <p:spPr>
            <a:xfrm>
              <a:off x="292608" y="525780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512064" y="523951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5V logic — needs level shifter</a:t>
              </a:r>
              <a:endParaRPr lang="en-US" sz="95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292608" y="5513832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48" name="Text 46"/>
            <p:cNvSpPr/>
            <p:nvPr/>
          </p:nvSpPr>
          <p:spPr>
            <a:xfrm>
              <a:off x="292608" y="550468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512064" y="548640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Huge heatsink takes chassis space</a:t>
              </a:r>
              <a:endParaRPr lang="en-US" sz="950" dirty="0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34202849-07BB-FEB3-F76C-430FF7134C2A}"/>
              </a:ext>
            </a:extLst>
          </p:cNvPr>
          <p:cNvGrpSpPr/>
          <p:nvPr/>
        </p:nvGrpSpPr>
        <p:grpSpPr>
          <a:xfrm>
            <a:off x="3172968" y="804672"/>
            <a:ext cx="2816352" cy="4338828"/>
            <a:chOff x="3172968" y="804672"/>
            <a:chExt cx="2816352" cy="4901184"/>
          </a:xfrm>
        </p:grpSpPr>
        <p:sp>
          <p:nvSpPr>
            <p:cNvPr id="50" name="Shape 48"/>
            <p:cNvSpPr/>
            <p:nvPr/>
          </p:nvSpPr>
          <p:spPr>
            <a:xfrm>
              <a:off x="3172968" y="804672"/>
              <a:ext cx="2816352" cy="4901184"/>
            </a:xfrm>
            <a:prstGeom prst="rect">
              <a:avLst/>
            </a:prstGeom>
            <a:solidFill>
              <a:srgbClr val="061828"/>
            </a:solidFill>
            <a:ln w="25400">
              <a:solidFill>
                <a:srgbClr val="00FF87"/>
              </a:solidFill>
              <a:prstDash val="solid"/>
            </a:ln>
            <a:effectLst>
              <a:outerShdw blurRad="254000" dist="12700" dir="8100000" algn="bl" rotWithShape="0">
                <a:srgbClr val="00FF87">
                  <a:alpha val="70000"/>
                </a:srgbClr>
              </a:outerShdw>
            </a:effectLst>
          </p:spPr>
        </p:sp>
        <p:sp>
          <p:nvSpPr>
            <p:cNvPr id="51" name="Shape 49"/>
            <p:cNvSpPr/>
            <p:nvPr/>
          </p:nvSpPr>
          <p:spPr>
            <a:xfrm>
              <a:off x="3172968" y="804672"/>
              <a:ext cx="2816352" cy="54864"/>
            </a:xfrm>
            <a:prstGeom prst="rect">
              <a:avLst/>
            </a:prstGeom>
            <a:solidFill>
              <a:srgbClr val="00FF87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3264408" y="877824"/>
              <a:ext cx="1463040" cy="274320"/>
            </a:xfrm>
            <a:prstGeom prst="rect">
              <a:avLst/>
            </a:prstGeom>
            <a:solidFill>
              <a:srgbClr val="00FF87">
                <a:alpha val="22000"/>
              </a:srgbClr>
            </a:solidFill>
            <a:ln w="10160">
              <a:solidFill>
                <a:srgbClr val="00FF87"/>
              </a:solidFill>
              <a:prstDash val="solid"/>
            </a:ln>
            <a:effectLst>
              <a:outerShdw blurRad="101600" dist="12700" dir="8100000" algn="bl" rotWithShape="0">
                <a:srgbClr val="00FF87">
                  <a:alpha val="5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3264408" y="896112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FF87"/>
                  </a:solidFill>
                </a:rPr>
                <a:t>RECOMMENDED</a:t>
              </a:r>
              <a:endParaRPr lang="en-US" sz="10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3264408" y="1207008"/>
              <a:ext cx="2606040" cy="329184"/>
            </a:xfrm>
            <a:prstGeom prst="rect">
              <a:avLst/>
            </a:prstGeom>
            <a:noFill/>
            <a:ln/>
            <a:effectLst>
              <a:outerShdw blurRad="50800" dist="12700" dir="8100000" algn="bl" rotWithShape="0">
                <a:srgbClr val="00FF87">
                  <a:alpha val="55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BTS7960 × 2</a:t>
              </a:r>
              <a:endParaRPr lang="en-US" sz="14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3264408" y="1536192"/>
              <a:ext cx="2606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43A half-bridge · 5–27V · per module</a:t>
              </a:r>
              <a:endParaRPr lang="en-US" sz="9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5367528" y="175564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00FF87"/>
                  </a:solidFill>
                </a:rPr>
                <a:t>9/10</a:t>
              </a:r>
              <a:endParaRPr lang="en-US" sz="10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3264408" y="1956816"/>
              <a:ext cx="2606040" cy="91440"/>
            </a:xfrm>
            <a:prstGeom prst="rect">
              <a:avLst/>
            </a:prstGeom>
            <a:solidFill>
              <a:srgbClr val="0D3050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3264408" y="1956816"/>
              <a:ext cx="2345436" cy="91440"/>
            </a:xfrm>
            <a:prstGeom prst="rect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59" name="Text 57"/>
            <p:cNvSpPr/>
            <p:nvPr/>
          </p:nvSpPr>
          <p:spPr>
            <a:xfrm>
              <a:off x="3264408" y="212140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Max Current</a:t>
              </a:r>
              <a:endParaRPr lang="en-US" sz="95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4453128" y="212140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E5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43A peak</a:t>
              </a:r>
              <a:endParaRPr lang="en-US" sz="95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3264408" y="2340864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Voltage</a:t>
              </a:r>
              <a:endParaRPr lang="en-US" sz="95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4453128" y="2340864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5–27V</a:t>
              </a:r>
              <a:endParaRPr lang="en-US" sz="95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3264408" y="2560320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Efficiency</a:t>
              </a:r>
              <a:endParaRPr lang="en-US" sz="95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4453128" y="2560320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~95%</a:t>
              </a:r>
              <a:endParaRPr lang="en-US" sz="95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3264408" y="2779776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Logic</a:t>
              </a:r>
              <a:endParaRPr lang="en-US" sz="950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4453128" y="277977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3.3V / 5V native</a:t>
              </a:r>
              <a:endParaRPr lang="en-US" sz="95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3264408" y="2999232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Heat</a:t>
              </a:r>
              <a:endParaRPr lang="en-US" sz="95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4453128" y="2999232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 — no heatsink</a:t>
              </a:r>
              <a:endParaRPr lang="en-US" sz="950" dirty="0"/>
            </a:p>
          </p:txBody>
        </p:sp>
        <p:sp>
          <p:nvSpPr>
            <p:cNvPr id="69" name="Text 67"/>
            <p:cNvSpPr/>
            <p:nvPr/>
          </p:nvSpPr>
          <p:spPr>
            <a:xfrm>
              <a:off x="3264408" y="321868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</a:t>
              </a:r>
              <a:endParaRPr lang="en-US" sz="950" dirty="0"/>
            </a:p>
          </p:txBody>
        </p:sp>
        <p:sp>
          <p:nvSpPr>
            <p:cNvPr id="70" name="Text 68"/>
            <p:cNvSpPr/>
            <p:nvPr/>
          </p:nvSpPr>
          <p:spPr>
            <a:xfrm>
              <a:off x="4453128" y="321868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₹200–350 each</a:t>
              </a:r>
              <a:endParaRPr lang="en-US" sz="95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3264408" y="3474720"/>
              <a:ext cx="2606040" cy="0"/>
            </a:xfrm>
            <a:prstGeom prst="line">
              <a:avLst/>
            </a:prstGeom>
            <a:noFill/>
            <a:ln w="6350">
              <a:solidFill>
                <a:srgbClr val="0D3050"/>
              </a:solidFill>
              <a:prstDash val="solid"/>
            </a:ln>
          </p:spPr>
        </p:sp>
        <p:sp>
          <p:nvSpPr>
            <p:cNvPr id="72" name="Text 70"/>
            <p:cNvSpPr/>
            <p:nvPr/>
          </p:nvSpPr>
          <p:spPr>
            <a:xfrm>
              <a:off x="3264408" y="3511296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</a:t>
              </a:r>
              <a:endParaRPr lang="en-US" sz="900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3264408" y="3758184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74" name="Text 72"/>
            <p:cNvSpPr/>
            <p:nvPr/>
          </p:nvSpPr>
          <p:spPr>
            <a:xfrm>
              <a:off x="3264408" y="374904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3483864" y="373075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95% efficiency — no heat at all</a:t>
              </a:r>
              <a:endParaRPr lang="en-US" sz="95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3264408" y="4005072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77" name="Text 75"/>
            <p:cNvSpPr/>
            <p:nvPr/>
          </p:nvSpPr>
          <p:spPr>
            <a:xfrm>
              <a:off x="3264408" y="399592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78" name="Text 76"/>
            <p:cNvSpPr/>
            <p:nvPr/>
          </p:nvSpPr>
          <p:spPr>
            <a:xfrm>
              <a:off x="3483864" y="397764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3.3V logic = direct ESP32 connection</a:t>
              </a:r>
              <a:endParaRPr lang="en-US" sz="950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3264408" y="4251960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80" name="Text 78"/>
            <p:cNvSpPr/>
            <p:nvPr/>
          </p:nvSpPr>
          <p:spPr>
            <a:xfrm>
              <a:off x="3264408" y="424281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81" name="Text 79"/>
            <p:cNvSpPr/>
            <p:nvPr/>
          </p:nvSpPr>
          <p:spPr>
            <a:xfrm>
              <a:off x="3483864" y="422452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Handles 3S LiPo 12.6V easily</a:t>
              </a:r>
              <a:endParaRPr lang="en-US" sz="950" dirty="0"/>
            </a:p>
          </p:txBody>
        </p:sp>
        <p:sp>
          <p:nvSpPr>
            <p:cNvPr id="82" name="Shape 80"/>
            <p:cNvSpPr/>
            <p:nvPr/>
          </p:nvSpPr>
          <p:spPr>
            <a:xfrm>
              <a:off x="3264408" y="4498848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83" name="Text 81"/>
            <p:cNvSpPr/>
            <p:nvPr/>
          </p:nvSpPr>
          <p:spPr>
            <a:xfrm>
              <a:off x="3264408" y="4489704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84" name="Text 82"/>
            <p:cNvSpPr/>
            <p:nvPr/>
          </p:nvSpPr>
          <p:spPr>
            <a:xfrm>
              <a:off x="3483864" y="4471416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PWM per direction for smooth control</a:t>
              </a:r>
              <a:endParaRPr lang="en-US" sz="950" dirty="0"/>
            </a:p>
          </p:txBody>
        </p:sp>
        <p:sp>
          <p:nvSpPr>
            <p:cNvPr id="85" name="Text 83"/>
            <p:cNvSpPr/>
            <p:nvPr/>
          </p:nvSpPr>
          <p:spPr>
            <a:xfrm>
              <a:off x="3264408" y="4773168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</a:t>
              </a:r>
              <a:endParaRPr lang="en-US" sz="900" dirty="0"/>
            </a:p>
          </p:txBody>
        </p:sp>
        <p:sp>
          <p:nvSpPr>
            <p:cNvPr id="86" name="Shape 84"/>
            <p:cNvSpPr/>
            <p:nvPr/>
          </p:nvSpPr>
          <p:spPr>
            <a:xfrm>
              <a:off x="3264408" y="5020056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87" name="Text 85"/>
            <p:cNvSpPr/>
            <p:nvPr/>
          </p:nvSpPr>
          <p:spPr>
            <a:xfrm>
              <a:off x="3264408" y="5010912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88" name="Text 86"/>
            <p:cNvSpPr/>
            <p:nvPr/>
          </p:nvSpPr>
          <p:spPr>
            <a:xfrm>
              <a:off x="3483864" y="4992624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Larger board than TB6612</a:t>
              </a:r>
              <a:endParaRPr lang="en-US" sz="950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3264408" y="5266944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90" name="Text 88"/>
            <p:cNvSpPr/>
            <p:nvPr/>
          </p:nvSpPr>
          <p:spPr>
            <a:xfrm>
              <a:off x="3264408" y="525780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91" name="Text 89"/>
            <p:cNvSpPr/>
            <p:nvPr/>
          </p:nvSpPr>
          <p:spPr>
            <a:xfrm>
              <a:off x="3483864" y="523951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Needs 2 modules (one per motor)</a:t>
              </a:r>
              <a:endParaRPr lang="en-US" sz="950" dirty="0"/>
            </a:p>
          </p:txBody>
        </p:sp>
        <p:sp>
          <p:nvSpPr>
            <p:cNvPr id="92" name="Shape 90"/>
            <p:cNvSpPr/>
            <p:nvPr/>
          </p:nvSpPr>
          <p:spPr>
            <a:xfrm>
              <a:off x="3264408" y="5513832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93" name="Text 91"/>
            <p:cNvSpPr/>
            <p:nvPr/>
          </p:nvSpPr>
          <p:spPr>
            <a:xfrm>
              <a:off x="3264408" y="550468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94" name="Text 92"/>
            <p:cNvSpPr/>
            <p:nvPr/>
          </p:nvSpPr>
          <p:spPr>
            <a:xfrm>
              <a:off x="3483864" y="548640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Overkill current for BO motors</a:t>
              </a:r>
              <a:endParaRPr lang="en-US" sz="950" dirty="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6685F4F-AC63-C1B2-639B-5C26F556EE17}"/>
              </a:ext>
            </a:extLst>
          </p:cNvPr>
          <p:cNvGrpSpPr/>
          <p:nvPr/>
        </p:nvGrpSpPr>
        <p:grpSpPr>
          <a:xfrm>
            <a:off x="6144768" y="804672"/>
            <a:ext cx="2816352" cy="4338828"/>
            <a:chOff x="6144768" y="804672"/>
            <a:chExt cx="2816352" cy="4901184"/>
          </a:xfrm>
        </p:grpSpPr>
        <p:sp>
          <p:nvSpPr>
            <p:cNvPr id="95" name="Shape 93"/>
            <p:cNvSpPr/>
            <p:nvPr/>
          </p:nvSpPr>
          <p:spPr>
            <a:xfrm>
              <a:off x="6144768" y="804672"/>
              <a:ext cx="2816352" cy="4901184"/>
            </a:xfrm>
            <a:prstGeom prst="rect">
              <a:avLst/>
            </a:prstGeom>
            <a:solidFill>
              <a:srgbClr val="061828"/>
            </a:solidFill>
            <a:ln w="15240">
              <a:solidFill>
                <a:srgbClr val="00E5FF"/>
              </a:solidFill>
              <a:prstDash val="solid"/>
            </a:ln>
            <a:effectLst>
              <a:outerShdw blurRad="152400" dist="12700" dir="8100000" algn="bl" rotWithShape="0">
                <a:srgbClr val="00E5FF">
                  <a:alpha val="55000"/>
                </a:srgbClr>
              </a:outerShdw>
            </a:effectLst>
          </p:spPr>
        </p:sp>
        <p:sp>
          <p:nvSpPr>
            <p:cNvPr id="96" name="Shape 94"/>
            <p:cNvSpPr/>
            <p:nvPr/>
          </p:nvSpPr>
          <p:spPr>
            <a:xfrm>
              <a:off x="6236208" y="877824"/>
              <a:ext cx="1463040" cy="274320"/>
            </a:xfrm>
            <a:prstGeom prst="rect">
              <a:avLst/>
            </a:prstGeom>
            <a:solidFill>
              <a:srgbClr val="00E5FF">
                <a:alpha val="22000"/>
              </a:srgbClr>
            </a:solidFill>
            <a:ln w="10160">
              <a:solidFill>
                <a:srgbClr val="00E5FF"/>
              </a:solidFill>
              <a:prstDash val="solid"/>
            </a:ln>
            <a:effectLst>
              <a:outerShdw blurRad="101600" dist="12700" dir="8100000" algn="bl" rotWithShape="0">
                <a:srgbClr val="00E5FF">
                  <a:alpha val="55000"/>
                </a:srgbClr>
              </a:outerShdw>
            </a:effectLst>
          </p:spPr>
        </p:sp>
        <p:sp>
          <p:nvSpPr>
            <p:cNvPr id="97" name="Text 95"/>
            <p:cNvSpPr/>
            <p:nvPr/>
          </p:nvSpPr>
          <p:spPr>
            <a:xfrm>
              <a:off x="6236208" y="896112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E5FF"/>
                  </a:solidFill>
                </a:rPr>
                <a:t>Compact Alt</a:t>
              </a:r>
              <a:endParaRPr lang="en-US" sz="1000" dirty="0"/>
            </a:p>
          </p:txBody>
        </p:sp>
        <p:sp>
          <p:nvSpPr>
            <p:cNvPr id="98" name="Text 96"/>
            <p:cNvSpPr/>
            <p:nvPr/>
          </p:nvSpPr>
          <p:spPr>
            <a:xfrm>
              <a:off x="6236208" y="1207008"/>
              <a:ext cx="2606040" cy="329184"/>
            </a:xfrm>
            <a:prstGeom prst="rect">
              <a:avLst/>
            </a:prstGeom>
            <a:noFill/>
            <a:ln/>
            <a:effectLst>
              <a:outerShdw blurRad="50800" dist="12700" dir="8100000" algn="bl" rotWithShape="0">
                <a:srgbClr val="00E5FF">
                  <a:alpha val="55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TB6612FNG</a:t>
              </a:r>
              <a:endParaRPr lang="en-US" sz="1400" dirty="0"/>
            </a:p>
          </p:txBody>
        </p:sp>
        <p:sp>
          <p:nvSpPr>
            <p:cNvPr id="99" name="Text 97"/>
            <p:cNvSpPr/>
            <p:nvPr/>
          </p:nvSpPr>
          <p:spPr>
            <a:xfrm>
              <a:off x="6236208" y="1536192"/>
              <a:ext cx="2606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Dual driver · 1.2A · 2.5–13.5V</a:t>
              </a:r>
              <a:endParaRPr lang="en-US" sz="900" dirty="0"/>
            </a:p>
          </p:txBody>
        </p:sp>
        <p:sp>
          <p:nvSpPr>
            <p:cNvPr id="100" name="Text 98"/>
            <p:cNvSpPr/>
            <p:nvPr/>
          </p:nvSpPr>
          <p:spPr>
            <a:xfrm>
              <a:off x="8339328" y="175564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00E5FF"/>
                  </a:solidFill>
                </a:rPr>
                <a:t>6/10</a:t>
              </a:r>
              <a:endParaRPr lang="en-US" sz="1000" dirty="0"/>
            </a:p>
          </p:txBody>
        </p:sp>
        <p:sp>
          <p:nvSpPr>
            <p:cNvPr id="101" name="Shape 99"/>
            <p:cNvSpPr/>
            <p:nvPr/>
          </p:nvSpPr>
          <p:spPr>
            <a:xfrm>
              <a:off x="6236208" y="1956816"/>
              <a:ext cx="2606040" cy="91440"/>
            </a:xfrm>
            <a:prstGeom prst="rect">
              <a:avLst/>
            </a:prstGeom>
            <a:solidFill>
              <a:srgbClr val="0D3050"/>
            </a:solidFill>
            <a:ln/>
          </p:spPr>
        </p:sp>
        <p:sp>
          <p:nvSpPr>
            <p:cNvPr id="102" name="Shape 100"/>
            <p:cNvSpPr/>
            <p:nvPr/>
          </p:nvSpPr>
          <p:spPr>
            <a:xfrm>
              <a:off x="6236208" y="1956816"/>
              <a:ext cx="1563624" cy="91440"/>
            </a:xfrm>
            <a:prstGeom prst="rect">
              <a:avLst/>
            </a:prstGeom>
            <a:solidFill>
              <a:srgbClr val="00E5FF"/>
            </a:solidFill>
            <a:ln/>
            <a:effectLst>
              <a:outerShdw blurRad="76200" dist="12700" dir="8100000" algn="bl" rotWithShape="0">
                <a:srgbClr val="00E5FF">
                  <a:alpha val="55000"/>
                </a:srgbClr>
              </a:outerShdw>
            </a:effectLst>
          </p:spPr>
        </p:sp>
        <p:sp>
          <p:nvSpPr>
            <p:cNvPr id="103" name="Text 101"/>
            <p:cNvSpPr/>
            <p:nvPr/>
          </p:nvSpPr>
          <p:spPr>
            <a:xfrm>
              <a:off x="6236208" y="212140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Max Current</a:t>
              </a:r>
              <a:endParaRPr lang="en-US" sz="950" dirty="0"/>
            </a:p>
          </p:txBody>
        </p:sp>
        <p:sp>
          <p:nvSpPr>
            <p:cNvPr id="104" name="Text 102"/>
            <p:cNvSpPr/>
            <p:nvPr/>
          </p:nvSpPr>
          <p:spPr>
            <a:xfrm>
              <a:off x="7424928" y="212140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E5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1.2A per channel</a:t>
              </a:r>
              <a:endParaRPr lang="en-US" sz="950" dirty="0"/>
            </a:p>
          </p:txBody>
        </p:sp>
        <p:sp>
          <p:nvSpPr>
            <p:cNvPr id="105" name="Text 103"/>
            <p:cNvSpPr/>
            <p:nvPr/>
          </p:nvSpPr>
          <p:spPr>
            <a:xfrm>
              <a:off x="6236208" y="2340864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Voltage</a:t>
              </a:r>
              <a:endParaRPr lang="en-US" sz="950" dirty="0"/>
            </a:p>
          </p:txBody>
        </p:sp>
        <p:sp>
          <p:nvSpPr>
            <p:cNvPr id="106" name="Text 104"/>
            <p:cNvSpPr/>
            <p:nvPr/>
          </p:nvSpPr>
          <p:spPr>
            <a:xfrm>
              <a:off x="7424928" y="2340864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2.5–13.5V</a:t>
              </a:r>
              <a:endParaRPr lang="en-US" sz="950" dirty="0"/>
            </a:p>
          </p:txBody>
        </p:sp>
        <p:sp>
          <p:nvSpPr>
            <p:cNvPr id="107" name="Text 105"/>
            <p:cNvSpPr/>
            <p:nvPr/>
          </p:nvSpPr>
          <p:spPr>
            <a:xfrm>
              <a:off x="6236208" y="2560320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Efficiency</a:t>
              </a:r>
              <a:endParaRPr lang="en-US" sz="950" dirty="0"/>
            </a:p>
          </p:txBody>
        </p:sp>
        <p:sp>
          <p:nvSpPr>
            <p:cNvPr id="108" name="Text 106"/>
            <p:cNvSpPr/>
            <p:nvPr/>
          </p:nvSpPr>
          <p:spPr>
            <a:xfrm>
              <a:off x="7424928" y="2560320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~92%</a:t>
              </a:r>
              <a:endParaRPr lang="en-US" sz="950" dirty="0"/>
            </a:p>
          </p:txBody>
        </p:sp>
        <p:sp>
          <p:nvSpPr>
            <p:cNvPr id="109" name="Text 107"/>
            <p:cNvSpPr/>
            <p:nvPr/>
          </p:nvSpPr>
          <p:spPr>
            <a:xfrm>
              <a:off x="6236208" y="2779776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Logic</a:t>
              </a:r>
              <a:endParaRPr lang="en-US" sz="950" dirty="0"/>
            </a:p>
          </p:txBody>
        </p:sp>
        <p:sp>
          <p:nvSpPr>
            <p:cNvPr id="110" name="Text 108"/>
            <p:cNvSpPr/>
            <p:nvPr/>
          </p:nvSpPr>
          <p:spPr>
            <a:xfrm>
              <a:off x="7424928" y="277977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2.7–5.5V</a:t>
              </a:r>
              <a:endParaRPr lang="en-US" sz="950" dirty="0"/>
            </a:p>
          </p:txBody>
        </p:sp>
        <p:sp>
          <p:nvSpPr>
            <p:cNvPr id="111" name="Text 109"/>
            <p:cNvSpPr/>
            <p:nvPr/>
          </p:nvSpPr>
          <p:spPr>
            <a:xfrm>
              <a:off x="6236208" y="2999232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Heat</a:t>
              </a:r>
              <a:endParaRPr lang="en-US" sz="950" dirty="0"/>
            </a:p>
          </p:txBody>
        </p:sp>
        <p:sp>
          <p:nvSpPr>
            <p:cNvPr id="112" name="Text 110"/>
            <p:cNvSpPr/>
            <p:nvPr/>
          </p:nvSpPr>
          <p:spPr>
            <a:xfrm>
              <a:off x="7424928" y="2999232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Barely warm</a:t>
              </a:r>
              <a:endParaRPr lang="en-US" sz="950" dirty="0"/>
            </a:p>
          </p:txBody>
        </p:sp>
        <p:sp>
          <p:nvSpPr>
            <p:cNvPr id="113" name="Text 111"/>
            <p:cNvSpPr/>
            <p:nvPr/>
          </p:nvSpPr>
          <p:spPr>
            <a:xfrm>
              <a:off x="6236208" y="321868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</a:t>
              </a:r>
              <a:endParaRPr lang="en-US" sz="950" dirty="0"/>
            </a:p>
          </p:txBody>
        </p:sp>
        <p:sp>
          <p:nvSpPr>
            <p:cNvPr id="114" name="Text 112"/>
            <p:cNvSpPr/>
            <p:nvPr/>
          </p:nvSpPr>
          <p:spPr>
            <a:xfrm>
              <a:off x="7424928" y="321868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₹120–180</a:t>
              </a:r>
              <a:endParaRPr lang="en-US" sz="950" dirty="0"/>
            </a:p>
          </p:txBody>
        </p:sp>
        <p:sp>
          <p:nvSpPr>
            <p:cNvPr id="115" name="Shape 113"/>
            <p:cNvSpPr/>
            <p:nvPr/>
          </p:nvSpPr>
          <p:spPr>
            <a:xfrm>
              <a:off x="6236208" y="3474720"/>
              <a:ext cx="2606040" cy="0"/>
            </a:xfrm>
            <a:prstGeom prst="line">
              <a:avLst/>
            </a:prstGeom>
            <a:noFill/>
            <a:ln w="6350">
              <a:solidFill>
                <a:srgbClr val="0D3050"/>
              </a:solidFill>
              <a:prstDash val="solid"/>
            </a:ln>
          </p:spPr>
        </p:sp>
        <p:sp>
          <p:nvSpPr>
            <p:cNvPr id="116" name="Text 114"/>
            <p:cNvSpPr/>
            <p:nvPr/>
          </p:nvSpPr>
          <p:spPr>
            <a:xfrm>
              <a:off x="6236208" y="3511296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</a:t>
              </a:r>
              <a:endParaRPr lang="en-US" sz="900" dirty="0"/>
            </a:p>
          </p:txBody>
        </p:sp>
        <p:sp>
          <p:nvSpPr>
            <p:cNvPr id="117" name="Shape 115"/>
            <p:cNvSpPr/>
            <p:nvPr/>
          </p:nvSpPr>
          <p:spPr>
            <a:xfrm>
              <a:off x="6236208" y="3758184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18" name="Text 116"/>
            <p:cNvSpPr/>
            <p:nvPr/>
          </p:nvSpPr>
          <p:spPr>
            <a:xfrm>
              <a:off x="6236208" y="374904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119" name="Text 117"/>
            <p:cNvSpPr/>
            <p:nvPr/>
          </p:nvSpPr>
          <p:spPr>
            <a:xfrm>
              <a:off x="6455664" y="373075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Tiny footprint for small robots</a:t>
              </a:r>
              <a:endParaRPr lang="en-US" sz="950" dirty="0"/>
            </a:p>
          </p:txBody>
        </p:sp>
        <p:sp>
          <p:nvSpPr>
            <p:cNvPr id="120" name="Shape 118"/>
            <p:cNvSpPr/>
            <p:nvPr/>
          </p:nvSpPr>
          <p:spPr>
            <a:xfrm>
              <a:off x="6236208" y="4005072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21" name="Text 119"/>
            <p:cNvSpPr/>
            <p:nvPr/>
          </p:nvSpPr>
          <p:spPr>
            <a:xfrm>
              <a:off x="6236208" y="399592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122" name="Text 120"/>
            <p:cNvSpPr/>
            <p:nvPr/>
          </p:nvSpPr>
          <p:spPr>
            <a:xfrm>
              <a:off x="6455664" y="397764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92% efficient, cool running</a:t>
              </a:r>
              <a:endParaRPr lang="en-US" sz="950" dirty="0"/>
            </a:p>
          </p:txBody>
        </p:sp>
        <p:sp>
          <p:nvSpPr>
            <p:cNvPr id="123" name="Shape 121"/>
            <p:cNvSpPr/>
            <p:nvPr/>
          </p:nvSpPr>
          <p:spPr>
            <a:xfrm>
              <a:off x="6236208" y="4251960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24" name="Text 122"/>
            <p:cNvSpPr/>
            <p:nvPr/>
          </p:nvSpPr>
          <p:spPr>
            <a:xfrm>
              <a:off x="6236208" y="424281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125" name="Text 123"/>
            <p:cNvSpPr/>
            <p:nvPr/>
          </p:nvSpPr>
          <p:spPr>
            <a:xfrm>
              <a:off x="6455664" y="422452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3.3V logic — ESP32 direct</a:t>
              </a:r>
              <a:endParaRPr lang="en-US" sz="950" dirty="0"/>
            </a:p>
          </p:txBody>
        </p:sp>
        <p:sp>
          <p:nvSpPr>
            <p:cNvPr id="126" name="Text 124"/>
            <p:cNvSpPr/>
            <p:nvPr/>
          </p:nvSpPr>
          <p:spPr>
            <a:xfrm>
              <a:off x="6236208" y="452628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</a:t>
              </a:r>
              <a:endParaRPr lang="en-US" sz="900" dirty="0"/>
            </a:p>
          </p:txBody>
        </p:sp>
        <p:sp>
          <p:nvSpPr>
            <p:cNvPr id="127" name="Shape 125"/>
            <p:cNvSpPr/>
            <p:nvPr/>
          </p:nvSpPr>
          <p:spPr>
            <a:xfrm>
              <a:off x="6236208" y="4773168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28" name="Text 126"/>
            <p:cNvSpPr/>
            <p:nvPr/>
          </p:nvSpPr>
          <p:spPr>
            <a:xfrm>
              <a:off x="6236208" y="4764024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29" name="Text 127"/>
            <p:cNvSpPr/>
            <p:nvPr/>
          </p:nvSpPr>
          <p:spPr>
            <a:xfrm>
              <a:off x="6455664" y="4745736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13.5V max — CANNOT handle 3S LiPo!</a:t>
              </a:r>
              <a:endParaRPr lang="en-US" sz="950" dirty="0"/>
            </a:p>
          </p:txBody>
        </p:sp>
        <p:sp>
          <p:nvSpPr>
            <p:cNvPr id="130" name="Shape 128"/>
            <p:cNvSpPr/>
            <p:nvPr/>
          </p:nvSpPr>
          <p:spPr>
            <a:xfrm>
              <a:off x="6236208" y="5020056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31" name="Text 129"/>
            <p:cNvSpPr/>
            <p:nvPr/>
          </p:nvSpPr>
          <p:spPr>
            <a:xfrm>
              <a:off x="6236208" y="5010912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32" name="Text 130"/>
            <p:cNvSpPr/>
            <p:nvPr/>
          </p:nvSpPr>
          <p:spPr>
            <a:xfrm>
              <a:off x="6455664" y="4992624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1.2A tight under motor load</a:t>
              </a:r>
              <a:endParaRPr lang="en-US" sz="950" dirty="0"/>
            </a:p>
          </p:txBody>
        </p:sp>
        <p:sp>
          <p:nvSpPr>
            <p:cNvPr id="133" name="Shape 131"/>
            <p:cNvSpPr/>
            <p:nvPr/>
          </p:nvSpPr>
          <p:spPr>
            <a:xfrm>
              <a:off x="6236208" y="5266944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34" name="Text 132"/>
            <p:cNvSpPr/>
            <p:nvPr/>
          </p:nvSpPr>
          <p:spPr>
            <a:xfrm>
              <a:off x="6236208" y="525780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35" name="Text 133"/>
            <p:cNvSpPr/>
            <p:nvPr/>
          </p:nvSpPr>
          <p:spPr>
            <a:xfrm>
              <a:off x="6455664" y="523951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Lower startup torque</a:t>
              </a:r>
              <a:endParaRPr lang="en-US" sz="950" dirty="0"/>
            </a:p>
          </p:txBody>
        </p:sp>
        <p:sp>
          <p:nvSpPr>
            <p:cNvPr id="136" name="Shape 134"/>
            <p:cNvSpPr/>
            <p:nvPr/>
          </p:nvSpPr>
          <p:spPr>
            <a:xfrm>
              <a:off x="6236208" y="5513832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37" name="Text 135"/>
            <p:cNvSpPr/>
            <p:nvPr/>
          </p:nvSpPr>
          <p:spPr>
            <a:xfrm>
              <a:off x="6236208" y="550468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38" name="Text 136"/>
            <p:cNvSpPr/>
            <p:nvPr/>
          </p:nvSpPr>
          <p:spPr>
            <a:xfrm>
              <a:off x="6455664" y="548640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Single module = shared failure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00810"/>
          </a:solidFill>
          <a:ln/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66928"/>
          </a:xfrm>
          <a:prstGeom prst="rect">
            <a:avLst/>
          </a:prstGeom>
          <a:noFill/>
          <a:ln/>
          <a:effectLst>
            <a:outerShdw blurRad="254000" dist="12700" dir="8100000" algn="bl" rotWithShape="0">
              <a:srgbClr val="00E5FF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7512"/>
            <a:ext cx="9144000" cy="109728"/>
          </a:xfrm>
          <a:prstGeom prst="rect">
            <a:avLst/>
          </a:prstGeom>
          <a:solidFill>
            <a:srgbClr val="00E5FF">
              <a:alpha val="10000"/>
            </a:srgbClr>
          </a:solidFill>
          <a:ln/>
        </p:spPr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8D18E4FA-5F2E-8462-D181-97676F428861}"/>
              </a:ext>
            </a:extLst>
          </p:cNvPr>
          <p:cNvGrpSpPr/>
          <p:nvPr/>
        </p:nvGrpSpPr>
        <p:grpSpPr>
          <a:xfrm>
            <a:off x="201168" y="804672"/>
            <a:ext cx="2816352" cy="4338828"/>
            <a:chOff x="201168" y="804672"/>
            <a:chExt cx="2816352" cy="4901184"/>
          </a:xfrm>
        </p:grpSpPr>
        <p:sp>
          <p:nvSpPr>
            <p:cNvPr id="6" name="Shape 4"/>
            <p:cNvSpPr/>
            <p:nvPr/>
          </p:nvSpPr>
          <p:spPr>
            <a:xfrm>
              <a:off x="201168" y="804672"/>
              <a:ext cx="2816352" cy="4901184"/>
            </a:xfrm>
            <a:prstGeom prst="rect">
              <a:avLst/>
            </a:prstGeom>
            <a:solidFill>
              <a:srgbClr val="061828"/>
            </a:solidFill>
            <a:ln w="25400">
              <a:solidFill>
                <a:srgbClr val="00FF87"/>
              </a:solidFill>
              <a:prstDash val="solid"/>
            </a:ln>
            <a:effectLst>
              <a:outerShdw blurRad="254000" dist="12700" dir="8100000" algn="bl" rotWithShape="0">
                <a:srgbClr val="00FF87">
                  <a:alpha val="70000"/>
                </a:srgbClr>
              </a:outerShdw>
            </a:effectLst>
          </p:spPr>
        </p:sp>
        <p:sp>
          <p:nvSpPr>
            <p:cNvPr id="7" name="Shape 5"/>
            <p:cNvSpPr/>
            <p:nvPr/>
          </p:nvSpPr>
          <p:spPr>
            <a:xfrm>
              <a:off x="201168" y="804672"/>
              <a:ext cx="2816352" cy="54864"/>
            </a:xfrm>
            <a:prstGeom prst="rect">
              <a:avLst/>
            </a:prstGeom>
            <a:solidFill>
              <a:srgbClr val="00FF87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292608" y="877824"/>
              <a:ext cx="1463040" cy="274320"/>
            </a:xfrm>
            <a:prstGeom prst="rect">
              <a:avLst/>
            </a:prstGeom>
            <a:solidFill>
              <a:srgbClr val="00FF87">
                <a:alpha val="22000"/>
              </a:srgbClr>
            </a:solidFill>
            <a:ln w="10160">
              <a:solidFill>
                <a:srgbClr val="00FF87"/>
              </a:solidFill>
              <a:prstDash val="solid"/>
            </a:ln>
            <a:effectLst>
              <a:outerShdw blurRad="1016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9" name="Text 7"/>
            <p:cNvSpPr/>
            <p:nvPr/>
          </p:nvSpPr>
          <p:spPr>
            <a:xfrm>
              <a:off x="292608" y="896112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FF87"/>
                  </a:solidFill>
                </a:rPr>
                <a:t>Best Fit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92608" y="1207008"/>
              <a:ext cx="2606040" cy="329184"/>
            </a:xfrm>
            <a:prstGeom prst="rect">
              <a:avLst/>
            </a:prstGeom>
            <a:noFill/>
            <a:ln/>
            <a:effectLst>
              <a:outerShdw blurRad="50800" dist="12700" dir="8100000" algn="bl" rotWithShape="0">
                <a:srgbClr val="00FF87">
                  <a:alpha val="55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200 RPM BO + Encoder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2608" y="1536192"/>
              <a:ext cx="2606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TT gear motor · 3–6V · hall encoder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395728" y="175564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00FF87"/>
                  </a:solidFill>
                </a:rPr>
                <a:t>9/10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92608" y="1956816"/>
              <a:ext cx="2606040" cy="91440"/>
            </a:xfrm>
            <a:prstGeom prst="rect">
              <a:avLst/>
            </a:prstGeom>
            <a:solidFill>
              <a:srgbClr val="0D3050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292608" y="1956816"/>
              <a:ext cx="2345436" cy="91440"/>
            </a:xfrm>
            <a:prstGeom prst="rect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5" name="Text 13"/>
            <p:cNvSpPr/>
            <p:nvPr/>
          </p:nvSpPr>
          <p:spPr>
            <a:xfrm>
              <a:off x="292608" y="212140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RPM</a:t>
              </a:r>
              <a:endParaRPr lang="en-US" sz="9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481328" y="212140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E5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200</a:t>
              </a:r>
              <a:endParaRPr lang="en-US" sz="9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92608" y="2340864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Voltage</a:t>
              </a:r>
              <a:endParaRPr lang="en-US" sz="9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481328" y="2340864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3–6V</a:t>
              </a:r>
              <a:endParaRPr lang="en-US" sz="9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92608" y="2560320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Torque</a:t>
              </a:r>
              <a:endParaRPr lang="en-US" sz="9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481328" y="2560320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0.8 kg·cm</a:t>
              </a:r>
              <a:endParaRPr lang="en-US" sz="9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292608" y="2779776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Encoder</a:t>
              </a:r>
              <a:endParaRPr lang="en-US" sz="9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481328" y="277977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Hall effect</a:t>
              </a:r>
              <a:endParaRPr lang="en-US" sz="9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92608" y="2999232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Speed @34mm</a:t>
              </a:r>
              <a:endParaRPr lang="en-US" sz="9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481328" y="2999232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36 cm/s</a:t>
              </a:r>
              <a:endParaRPr lang="en-US" sz="9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92608" y="321868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</a:t>
              </a:r>
              <a:endParaRPr lang="en-US" sz="9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481328" y="321868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₹120–160 each</a:t>
              </a:r>
              <a:endParaRPr lang="en-US" sz="9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292608" y="3474720"/>
              <a:ext cx="2606040" cy="0"/>
            </a:xfrm>
            <a:prstGeom prst="line">
              <a:avLst/>
            </a:prstGeom>
            <a:noFill/>
            <a:ln w="6350">
              <a:solidFill>
                <a:srgbClr val="0D3050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292608" y="3511296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</a:t>
              </a:r>
              <a:endParaRPr lang="en-US" sz="9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292608" y="3758184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0" name="Text 28"/>
            <p:cNvSpPr/>
            <p:nvPr/>
          </p:nvSpPr>
          <p:spPr>
            <a:xfrm>
              <a:off x="292608" y="374904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512064" y="373075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Ideal speed for maze navigation</a:t>
              </a:r>
              <a:endParaRPr lang="en-US" sz="95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292608" y="4005072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3" name="Text 31"/>
            <p:cNvSpPr/>
            <p:nvPr/>
          </p:nvSpPr>
          <p:spPr>
            <a:xfrm>
              <a:off x="292608" y="399592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512064" y="397764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Encoder gives precise distance</a:t>
              </a:r>
              <a:endParaRPr lang="en-US" sz="95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292608" y="4251960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6" name="Text 34"/>
            <p:cNvSpPr/>
            <p:nvPr/>
          </p:nvSpPr>
          <p:spPr>
            <a:xfrm>
              <a:off x="292608" y="424281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512064" y="422452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Fits standard BO chassis mounts</a:t>
              </a:r>
              <a:endParaRPr lang="en-US" sz="95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292608" y="4498848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9" name="Text 37"/>
            <p:cNvSpPr/>
            <p:nvPr/>
          </p:nvSpPr>
          <p:spPr>
            <a:xfrm>
              <a:off x="292608" y="4489704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512064" y="4471416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PWM from 3S = perfect control</a:t>
              </a:r>
              <a:endParaRPr lang="en-US" sz="95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292608" y="4773168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</a:t>
              </a:r>
              <a:endParaRPr lang="en-US" sz="9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292608" y="5020056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43" name="Text 41"/>
            <p:cNvSpPr/>
            <p:nvPr/>
          </p:nvSpPr>
          <p:spPr>
            <a:xfrm>
              <a:off x="292608" y="5010912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512064" y="4992624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Slightly bulky motor body</a:t>
              </a:r>
              <a:endParaRPr lang="en-US" sz="95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292608" y="5266944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46" name="Text 44"/>
            <p:cNvSpPr/>
            <p:nvPr/>
          </p:nvSpPr>
          <p:spPr>
            <a:xfrm>
              <a:off x="292608" y="525780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512064" y="523951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6V rated — use PWM at 30–40%</a:t>
              </a:r>
              <a:endParaRPr lang="en-US" sz="95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292608" y="5513832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49" name="Text 47"/>
            <p:cNvSpPr/>
            <p:nvPr/>
          </p:nvSpPr>
          <p:spPr>
            <a:xfrm>
              <a:off x="292608" y="550468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512064" y="548640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Lower torque than N20</a:t>
              </a:r>
              <a:endParaRPr lang="en-US" sz="950" dirty="0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52155918-87BB-32AE-78EE-89F12D36319C}"/>
              </a:ext>
            </a:extLst>
          </p:cNvPr>
          <p:cNvGrpSpPr/>
          <p:nvPr/>
        </p:nvGrpSpPr>
        <p:grpSpPr>
          <a:xfrm>
            <a:off x="3172968" y="804672"/>
            <a:ext cx="2816352" cy="4338828"/>
            <a:chOff x="3172968" y="804672"/>
            <a:chExt cx="2816352" cy="4709160"/>
          </a:xfrm>
        </p:grpSpPr>
        <p:sp>
          <p:nvSpPr>
            <p:cNvPr id="51" name="Shape 49"/>
            <p:cNvSpPr/>
            <p:nvPr/>
          </p:nvSpPr>
          <p:spPr>
            <a:xfrm>
              <a:off x="3172968" y="804672"/>
              <a:ext cx="2816352" cy="4709160"/>
            </a:xfrm>
            <a:prstGeom prst="rect">
              <a:avLst/>
            </a:prstGeom>
            <a:solidFill>
              <a:srgbClr val="061828"/>
            </a:solidFill>
            <a:ln w="15240">
              <a:solidFill>
                <a:srgbClr val="FFB800"/>
              </a:solidFill>
              <a:prstDash val="solid"/>
            </a:ln>
            <a:effectLst>
              <a:outerShdw blurRad="152400" dist="12700" dir="8100000" algn="bl" rotWithShape="0">
                <a:srgbClr val="FFB800">
                  <a:alpha val="55000"/>
                </a:srgbClr>
              </a:outerShdw>
            </a:effectLst>
          </p:spPr>
        </p:sp>
        <p:sp>
          <p:nvSpPr>
            <p:cNvPr id="52" name="Shape 50"/>
            <p:cNvSpPr/>
            <p:nvPr/>
          </p:nvSpPr>
          <p:spPr>
            <a:xfrm>
              <a:off x="3264408" y="877824"/>
              <a:ext cx="1463040" cy="274320"/>
            </a:xfrm>
            <a:prstGeom prst="rect">
              <a:avLst/>
            </a:prstGeom>
            <a:solidFill>
              <a:srgbClr val="FFB800">
                <a:alpha val="22000"/>
              </a:srgbClr>
            </a:solidFill>
            <a:ln w="10160">
              <a:solidFill>
                <a:srgbClr val="FFB800"/>
              </a:solidFill>
              <a:prstDash val="solid"/>
            </a:ln>
            <a:effectLst>
              <a:outerShdw blurRad="101600" dist="12700" dir="8100000" algn="bl" rotWithShape="0">
                <a:srgbClr val="FFB800">
                  <a:alpha val="55000"/>
                </a:srgbClr>
              </a:outerShdw>
            </a:effectLst>
          </p:spPr>
        </p:sp>
        <p:sp>
          <p:nvSpPr>
            <p:cNvPr id="53" name="Text 51"/>
            <p:cNvSpPr/>
            <p:nvPr/>
          </p:nvSpPr>
          <p:spPr>
            <a:xfrm>
              <a:off x="3264408" y="896112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B800"/>
                  </a:solidFill>
                </a:rPr>
                <a:t>Fast Option</a:t>
              </a:r>
              <a:endParaRPr lang="en-US" sz="10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3264408" y="1207008"/>
              <a:ext cx="2606040" cy="329184"/>
            </a:xfrm>
            <a:prstGeom prst="rect">
              <a:avLst/>
            </a:prstGeom>
            <a:noFill/>
            <a:ln/>
            <a:effectLst>
              <a:outerShdw blurRad="50800" dist="12700" dir="8100000" algn="bl" rotWithShape="0">
                <a:srgbClr val="FFB800">
                  <a:alpha val="55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300 RPM BO + Encoder</a:t>
              </a:r>
              <a:endParaRPr lang="en-US" sz="14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3264408" y="1536192"/>
              <a:ext cx="2606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TT gear motor · 6V · hall encoder</a:t>
              </a:r>
              <a:endParaRPr lang="en-US" sz="9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5367528" y="175564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FFB800"/>
                  </a:solidFill>
                </a:rPr>
                <a:t>7/10</a:t>
              </a:r>
              <a:endParaRPr lang="en-US" sz="10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3264408" y="1956816"/>
              <a:ext cx="2606040" cy="91440"/>
            </a:xfrm>
            <a:prstGeom prst="rect">
              <a:avLst/>
            </a:prstGeom>
            <a:solidFill>
              <a:srgbClr val="0D3050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3264408" y="1956816"/>
              <a:ext cx="1824228" cy="91440"/>
            </a:xfrm>
            <a:prstGeom prst="rect">
              <a:avLst/>
            </a:prstGeom>
            <a:solidFill>
              <a:srgbClr val="FFB800"/>
            </a:solidFill>
            <a:ln/>
            <a:effectLst>
              <a:outerShdw blurRad="76200" dist="12700" dir="8100000" algn="bl" rotWithShape="0">
                <a:srgbClr val="FFB800">
                  <a:alpha val="55000"/>
                </a:srgbClr>
              </a:outerShdw>
            </a:effectLst>
          </p:spPr>
        </p:sp>
        <p:sp>
          <p:nvSpPr>
            <p:cNvPr id="59" name="Text 57"/>
            <p:cNvSpPr/>
            <p:nvPr/>
          </p:nvSpPr>
          <p:spPr>
            <a:xfrm>
              <a:off x="3264408" y="212140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RPM</a:t>
              </a:r>
              <a:endParaRPr lang="en-US" sz="95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4453128" y="212140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E5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300</a:t>
              </a:r>
              <a:endParaRPr lang="en-US" sz="95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3264408" y="2340864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Voltage</a:t>
              </a:r>
              <a:endParaRPr lang="en-US" sz="95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4453128" y="2340864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6V</a:t>
              </a:r>
              <a:endParaRPr lang="en-US" sz="95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3264408" y="2560320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Torque</a:t>
              </a:r>
              <a:endParaRPr lang="en-US" sz="95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4453128" y="2560320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0.5 kg·cm</a:t>
              </a:r>
              <a:endParaRPr lang="en-US" sz="95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3264408" y="2779776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Encoder</a:t>
              </a:r>
              <a:endParaRPr lang="en-US" sz="950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4453128" y="277977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Hall effect</a:t>
              </a:r>
              <a:endParaRPr lang="en-US" sz="95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3264408" y="2999232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Speed @34mm</a:t>
              </a:r>
              <a:endParaRPr lang="en-US" sz="95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4453128" y="2999232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53 cm/s</a:t>
              </a:r>
              <a:endParaRPr lang="en-US" sz="950" dirty="0"/>
            </a:p>
          </p:txBody>
        </p:sp>
        <p:sp>
          <p:nvSpPr>
            <p:cNvPr id="69" name="Text 67"/>
            <p:cNvSpPr/>
            <p:nvPr/>
          </p:nvSpPr>
          <p:spPr>
            <a:xfrm>
              <a:off x="3264408" y="321868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</a:t>
              </a:r>
              <a:endParaRPr lang="en-US" sz="950" dirty="0"/>
            </a:p>
          </p:txBody>
        </p:sp>
        <p:sp>
          <p:nvSpPr>
            <p:cNvPr id="70" name="Text 68"/>
            <p:cNvSpPr/>
            <p:nvPr/>
          </p:nvSpPr>
          <p:spPr>
            <a:xfrm>
              <a:off x="4453128" y="321868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₹120–160 each</a:t>
              </a:r>
              <a:endParaRPr lang="en-US" sz="95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3264408" y="3474720"/>
              <a:ext cx="2606040" cy="0"/>
            </a:xfrm>
            <a:prstGeom prst="line">
              <a:avLst/>
            </a:prstGeom>
            <a:noFill/>
            <a:ln w="6350">
              <a:solidFill>
                <a:srgbClr val="0D3050"/>
              </a:solidFill>
              <a:prstDash val="solid"/>
            </a:ln>
          </p:spPr>
        </p:sp>
        <p:sp>
          <p:nvSpPr>
            <p:cNvPr id="72" name="Text 70"/>
            <p:cNvSpPr/>
            <p:nvPr/>
          </p:nvSpPr>
          <p:spPr>
            <a:xfrm>
              <a:off x="3264408" y="3511296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</a:t>
              </a:r>
              <a:endParaRPr lang="en-US" sz="900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3264408" y="3758184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74" name="Text 72"/>
            <p:cNvSpPr/>
            <p:nvPr/>
          </p:nvSpPr>
          <p:spPr>
            <a:xfrm>
              <a:off x="3264408" y="374904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3483864" y="373075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Faster maze completion possible</a:t>
              </a:r>
              <a:endParaRPr lang="en-US" sz="95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3264408" y="4005072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77" name="Text 75"/>
            <p:cNvSpPr/>
            <p:nvPr/>
          </p:nvSpPr>
          <p:spPr>
            <a:xfrm>
              <a:off x="3264408" y="399592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78" name="Text 76"/>
            <p:cNvSpPr/>
            <p:nvPr/>
          </p:nvSpPr>
          <p:spPr>
            <a:xfrm>
              <a:off x="3483864" y="397764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Same encoder as 200 RPM</a:t>
              </a:r>
              <a:endParaRPr lang="en-US" sz="950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3264408" y="4251960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80" name="Text 78"/>
            <p:cNvSpPr/>
            <p:nvPr/>
          </p:nvSpPr>
          <p:spPr>
            <a:xfrm>
              <a:off x="3264408" y="424281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81" name="Text 79"/>
            <p:cNvSpPr/>
            <p:nvPr/>
          </p:nvSpPr>
          <p:spPr>
            <a:xfrm>
              <a:off x="3483864" y="422452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Available everywhere in India</a:t>
              </a:r>
              <a:endParaRPr lang="en-US" sz="950" dirty="0"/>
            </a:p>
          </p:txBody>
        </p:sp>
        <p:sp>
          <p:nvSpPr>
            <p:cNvPr id="82" name="Text 80"/>
            <p:cNvSpPr/>
            <p:nvPr/>
          </p:nvSpPr>
          <p:spPr>
            <a:xfrm>
              <a:off x="3264408" y="452628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</a:t>
              </a:r>
              <a:endParaRPr lang="en-US" sz="900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3264408" y="4773168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84" name="Text 82"/>
            <p:cNvSpPr/>
            <p:nvPr/>
          </p:nvSpPr>
          <p:spPr>
            <a:xfrm>
              <a:off x="3264408" y="4764024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85" name="Text 83"/>
            <p:cNvSpPr/>
            <p:nvPr/>
          </p:nvSpPr>
          <p:spPr>
            <a:xfrm>
              <a:off x="3483864" y="4745736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Must run at 50% PWM in maze</a:t>
              </a:r>
              <a:endParaRPr lang="en-US" sz="950" dirty="0"/>
            </a:p>
          </p:txBody>
        </p:sp>
        <p:sp>
          <p:nvSpPr>
            <p:cNvPr id="86" name="Shape 84"/>
            <p:cNvSpPr/>
            <p:nvPr/>
          </p:nvSpPr>
          <p:spPr>
            <a:xfrm>
              <a:off x="3264408" y="5020056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87" name="Text 85"/>
            <p:cNvSpPr/>
            <p:nvPr/>
          </p:nvSpPr>
          <p:spPr>
            <a:xfrm>
              <a:off x="3264408" y="5010912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88" name="Text 86"/>
            <p:cNvSpPr/>
            <p:nvPr/>
          </p:nvSpPr>
          <p:spPr>
            <a:xfrm>
              <a:off x="3483864" y="4992624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Lower torque on bumps/tiles</a:t>
              </a:r>
              <a:endParaRPr lang="en-US" sz="950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3264408" y="5266944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90" name="Text 88"/>
            <p:cNvSpPr/>
            <p:nvPr/>
          </p:nvSpPr>
          <p:spPr>
            <a:xfrm>
              <a:off x="3264408" y="525780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91" name="Text 89"/>
            <p:cNvSpPr/>
            <p:nvPr/>
          </p:nvSpPr>
          <p:spPr>
            <a:xfrm>
              <a:off x="3483864" y="523951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More overshoot at every turn</a:t>
              </a:r>
              <a:endParaRPr lang="en-US" sz="950" dirty="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4ECFDF7-155D-EE12-FA3B-8989596312AD}"/>
              </a:ext>
            </a:extLst>
          </p:cNvPr>
          <p:cNvGrpSpPr/>
          <p:nvPr/>
        </p:nvGrpSpPr>
        <p:grpSpPr>
          <a:xfrm>
            <a:off x="6144768" y="804672"/>
            <a:ext cx="2816352" cy="4338828"/>
            <a:chOff x="6144768" y="804672"/>
            <a:chExt cx="2816352" cy="4681728"/>
          </a:xfrm>
        </p:grpSpPr>
        <p:sp>
          <p:nvSpPr>
            <p:cNvPr id="92" name="Shape 90"/>
            <p:cNvSpPr/>
            <p:nvPr/>
          </p:nvSpPr>
          <p:spPr>
            <a:xfrm>
              <a:off x="6144768" y="804672"/>
              <a:ext cx="2816352" cy="4681728"/>
            </a:xfrm>
            <a:prstGeom prst="rect">
              <a:avLst/>
            </a:prstGeom>
            <a:solidFill>
              <a:srgbClr val="061828"/>
            </a:solidFill>
            <a:ln w="15240">
              <a:solidFill>
                <a:srgbClr val="00E5FF"/>
              </a:solidFill>
              <a:prstDash val="solid"/>
            </a:ln>
            <a:effectLst>
              <a:outerShdw blurRad="152400" dist="12700" dir="8100000" algn="bl" rotWithShape="0">
                <a:srgbClr val="00E5FF">
                  <a:alpha val="55000"/>
                </a:srgbClr>
              </a:outerShdw>
            </a:effectLst>
          </p:spPr>
        </p:sp>
        <p:sp>
          <p:nvSpPr>
            <p:cNvPr id="93" name="Shape 91"/>
            <p:cNvSpPr/>
            <p:nvPr/>
          </p:nvSpPr>
          <p:spPr>
            <a:xfrm>
              <a:off x="6236208" y="877824"/>
              <a:ext cx="1463040" cy="274320"/>
            </a:xfrm>
            <a:prstGeom prst="rect">
              <a:avLst/>
            </a:prstGeom>
            <a:solidFill>
              <a:srgbClr val="00E5FF">
                <a:alpha val="22000"/>
              </a:srgbClr>
            </a:solidFill>
            <a:ln w="10160">
              <a:solidFill>
                <a:srgbClr val="00E5FF"/>
              </a:solidFill>
              <a:prstDash val="solid"/>
            </a:ln>
            <a:effectLst>
              <a:outerShdw blurRad="101600" dist="12700" dir="8100000" algn="bl" rotWithShape="0">
                <a:srgbClr val="00E5FF">
                  <a:alpha val="55000"/>
                </a:srgbClr>
              </a:outerShdw>
            </a:effectLst>
          </p:spPr>
        </p:sp>
        <p:sp>
          <p:nvSpPr>
            <p:cNvPr id="94" name="Text 92"/>
            <p:cNvSpPr/>
            <p:nvPr/>
          </p:nvSpPr>
          <p:spPr>
            <a:xfrm>
              <a:off x="6236208" y="896112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E5FF"/>
                  </a:solidFill>
                </a:rPr>
                <a:t>Premium Compact</a:t>
              </a:r>
              <a:endParaRPr lang="en-US" sz="1000" dirty="0"/>
            </a:p>
          </p:txBody>
        </p:sp>
        <p:sp>
          <p:nvSpPr>
            <p:cNvPr id="95" name="Text 93"/>
            <p:cNvSpPr/>
            <p:nvPr/>
          </p:nvSpPr>
          <p:spPr>
            <a:xfrm>
              <a:off x="6236208" y="1207008"/>
              <a:ext cx="2606040" cy="329184"/>
            </a:xfrm>
            <a:prstGeom prst="rect">
              <a:avLst/>
            </a:prstGeom>
            <a:noFill/>
            <a:ln/>
            <a:effectLst>
              <a:outerShdw blurRad="50800" dist="12700" dir="8100000" algn="bl" rotWithShape="0">
                <a:srgbClr val="00E5FF">
                  <a:alpha val="55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N20 Micro Gear Motor</a:t>
              </a:r>
              <a:endParaRPr lang="en-US" sz="1400" dirty="0"/>
            </a:p>
          </p:txBody>
        </p:sp>
        <p:sp>
          <p:nvSpPr>
            <p:cNvPr id="96" name="Text 94"/>
            <p:cNvSpPr/>
            <p:nvPr/>
          </p:nvSpPr>
          <p:spPr>
            <a:xfrm>
              <a:off x="6236208" y="1536192"/>
              <a:ext cx="2606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Metal gear · 6V · optical encoder</a:t>
              </a:r>
              <a:endParaRPr lang="en-US" sz="900" dirty="0"/>
            </a:p>
          </p:txBody>
        </p:sp>
        <p:sp>
          <p:nvSpPr>
            <p:cNvPr id="97" name="Text 95"/>
            <p:cNvSpPr/>
            <p:nvPr/>
          </p:nvSpPr>
          <p:spPr>
            <a:xfrm>
              <a:off x="8339328" y="175564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00E5FF"/>
                  </a:solidFill>
                </a:rPr>
                <a:t>7/10</a:t>
              </a:r>
              <a:endParaRPr lang="en-US" sz="1000" dirty="0"/>
            </a:p>
          </p:txBody>
        </p:sp>
        <p:sp>
          <p:nvSpPr>
            <p:cNvPr id="98" name="Shape 96"/>
            <p:cNvSpPr/>
            <p:nvPr/>
          </p:nvSpPr>
          <p:spPr>
            <a:xfrm>
              <a:off x="6236208" y="1956816"/>
              <a:ext cx="2606040" cy="91440"/>
            </a:xfrm>
            <a:prstGeom prst="rect">
              <a:avLst/>
            </a:prstGeom>
            <a:solidFill>
              <a:srgbClr val="0D3050"/>
            </a:solidFill>
            <a:ln/>
          </p:spPr>
        </p:sp>
        <p:sp>
          <p:nvSpPr>
            <p:cNvPr id="99" name="Shape 97"/>
            <p:cNvSpPr/>
            <p:nvPr/>
          </p:nvSpPr>
          <p:spPr>
            <a:xfrm>
              <a:off x="6236208" y="1956816"/>
              <a:ext cx="1824228" cy="91440"/>
            </a:xfrm>
            <a:prstGeom prst="rect">
              <a:avLst/>
            </a:prstGeom>
            <a:solidFill>
              <a:srgbClr val="00E5FF"/>
            </a:solidFill>
            <a:ln/>
            <a:effectLst>
              <a:outerShdw blurRad="76200" dist="12700" dir="8100000" algn="bl" rotWithShape="0">
                <a:srgbClr val="00E5FF">
                  <a:alpha val="55000"/>
                </a:srgbClr>
              </a:outerShdw>
            </a:effectLst>
          </p:spPr>
        </p:sp>
        <p:sp>
          <p:nvSpPr>
            <p:cNvPr id="100" name="Text 98"/>
            <p:cNvSpPr/>
            <p:nvPr/>
          </p:nvSpPr>
          <p:spPr>
            <a:xfrm>
              <a:off x="6236208" y="212140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RPM</a:t>
              </a:r>
              <a:endParaRPr lang="en-US" sz="950" dirty="0"/>
            </a:p>
          </p:txBody>
        </p:sp>
        <p:sp>
          <p:nvSpPr>
            <p:cNvPr id="101" name="Text 99"/>
            <p:cNvSpPr/>
            <p:nvPr/>
          </p:nvSpPr>
          <p:spPr>
            <a:xfrm>
              <a:off x="7424928" y="212140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E5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100–200</a:t>
              </a:r>
              <a:endParaRPr lang="en-US" sz="950" dirty="0"/>
            </a:p>
          </p:txBody>
        </p:sp>
        <p:sp>
          <p:nvSpPr>
            <p:cNvPr id="102" name="Text 100"/>
            <p:cNvSpPr/>
            <p:nvPr/>
          </p:nvSpPr>
          <p:spPr>
            <a:xfrm>
              <a:off x="6236208" y="2340864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Voltage</a:t>
              </a:r>
              <a:endParaRPr lang="en-US" sz="950" dirty="0"/>
            </a:p>
          </p:txBody>
        </p:sp>
        <p:sp>
          <p:nvSpPr>
            <p:cNvPr id="103" name="Text 101"/>
            <p:cNvSpPr/>
            <p:nvPr/>
          </p:nvSpPr>
          <p:spPr>
            <a:xfrm>
              <a:off x="7424928" y="2340864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6V</a:t>
              </a:r>
              <a:endParaRPr lang="en-US" sz="950" dirty="0"/>
            </a:p>
          </p:txBody>
        </p:sp>
        <p:sp>
          <p:nvSpPr>
            <p:cNvPr id="104" name="Text 102"/>
            <p:cNvSpPr/>
            <p:nvPr/>
          </p:nvSpPr>
          <p:spPr>
            <a:xfrm>
              <a:off x="6236208" y="2560320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Torque</a:t>
              </a:r>
              <a:endParaRPr lang="en-US" sz="950" dirty="0"/>
            </a:p>
          </p:txBody>
        </p:sp>
        <p:sp>
          <p:nvSpPr>
            <p:cNvPr id="105" name="Text 103"/>
            <p:cNvSpPr/>
            <p:nvPr/>
          </p:nvSpPr>
          <p:spPr>
            <a:xfrm>
              <a:off x="7424928" y="2560320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1.5 kg·cm</a:t>
              </a:r>
              <a:endParaRPr lang="en-US" sz="950" dirty="0"/>
            </a:p>
          </p:txBody>
        </p:sp>
        <p:sp>
          <p:nvSpPr>
            <p:cNvPr id="106" name="Text 104"/>
            <p:cNvSpPr/>
            <p:nvPr/>
          </p:nvSpPr>
          <p:spPr>
            <a:xfrm>
              <a:off x="6236208" y="2779776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Encoder</a:t>
              </a:r>
              <a:endParaRPr lang="en-US" sz="950" dirty="0"/>
            </a:p>
          </p:txBody>
        </p:sp>
        <p:sp>
          <p:nvSpPr>
            <p:cNvPr id="107" name="Text 105"/>
            <p:cNvSpPr/>
            <p:nvPr/>
          </p:nvSpPr>
          <p:spPr>
            <a:xfrm>
              <a:off x="7424928" y="277977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Optical/magnetic</a:t>
              </a:r>
              <a:endParaRPr lang="en-US" sz="950" dirty="0"/>
            </a:p>
          </p:txBody>
        </p:sp>
        <p:sp>
          <p:nvSpPr>
            <p:cNvPr id="108" name="Text 106"/>
            <p:cNvSpPr/>
            <p:nvPr/>
          </p:nvSpPr>
          <p:spPr>
            <a:xfrm>
              <a:off x="6236208" y="2999232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Speed @34mm</a:t>
              </a:r>
              <a:endParaRPr lang="en-US" sz="950" dirty="0"/>
            </a:p>
          </p:txBody>
        </p:sp>
        <p:sp>
          <p:nvSpPr>
            <p:cNvPr id="109" name="Text 107"/>
            <p:cNvSpPr/>
            <p:nvPr/>
          </p:nvSpPr>
          <p:spPr>
            <a:xfrm>
              <a:off x="7424928" y="2999232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18–35 cm/s</a:t>
              </a:r>
              <a:endParaRPr lang="en-US" sz="950" dirty="0"/>
            </a:p>
          </p:txBody>
        </p:sp>
        <p:sp>
          <p:nvSpPr>
            <p:cNvPr id="110" name="Text 108"/>
            <p:cNvSpPr/>
            <p:nvPr/>
          </p:nvSpPr>
          <p:spPr>
            <a:xfrm>
              <a:off x="6236208" y="321868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</a:t>
              </a:r>
              <a:endParaRPr lang="en-US" sz="950" dirty="0"/>
            </a:p>
          </p:txBody>
        </p:sp>
        <p:sp>
          <p:nvSpPr>
            <p:cNvPr id="111" name="Text 109"/>
            <p:cNvSpPr/>
            <p:nvPr/>
          </p:nvSpPr>
          <p:spPr>
            <a:xfrm>
              <a:off x="7424928" y="321868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₹180–350 each</a:t>
              </a:r>
              <a:endParaRPr lang="en-US" sz="950" dirty="0"/>
            </a:p>
          </p:txBody>
        </p:sp>
        <p:sp>
          <p:nvSpPr>
            <p:cNvPr id="112" name="Shape 110"/>
            <p:cNvSpPr/>
            <p:nvPr/>
          </p:nvSpPr>
          <p:spPr>
            <a:xfrm>
              <a:off x="6236208" y="3474720"/>
              <a:ext cx="2606040" cy="0"/>
            </a:xfrm>
            <a:prstGeom prst="line">
              <a:avLst/>
            </a:prstGeom>
            <a:noFill/>
            <a:ln w="6350">
              <a:solidFill>
                <a:srgbClr val="0D3050"/>
              </a:solidFill>
              <a:prstDash val="solid"/>
            </a:ln>
          </p:spPr>
        </p:sp>
        <p:sp>
          <p:nvSpPr>
            <p:cNvPr id="113" name="Text 111"/>
            <p:cNvSpPr/>
            <p:nvPr/>
          </p:nvSpPr>
          <p:spPr>
            <a:xfrm>
              <a:off x="6236208" y="3511296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</a:t>
              </a:r>
              <a:endParaRPr lang="en-US" sz="900" dirty="0"/>
            </a:p>
          </p:txBody>
        </p:sp>
        <p:sp>
          <p:nvSpPr>
            <p:cNvPr id="114" name="Shape 112"/>
            <p:cNvSpPr/>
            <p:nvPr/>
          </p:nvSpPr>
          <p:spPr>
            <a:xfrm>
              <a:off x="6236208" y="3758184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15" name="Text 113"/>
            <p:cNvSpPr/>
            <p:nvPr/>
          </p:nvSpPr>
          <p:spPr>
            <a:xfrm>
              <a:off x="6236208" y="374904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116" name="Text 114"/>
            <p:cNvSpPr/>
            <p:nvPr/>
          </p:nvSpPr>
          <p:spPr>
            <a:xfrm>
              <a:off x="6455664" y="373075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Metal gears — very durable</a:t>
              </a:r>
              <a:endParaRPr lang="en-US" sz="950" dirty="0"/>
            </a:p>
          </p:txBody>
        </p:sp>
        <p:sp>
          <p:nvSpPr>
            <p:cNvPr id="117" name="Shape 115"/>
            <p:cNvSpPr/>
            <p:nvPr/>
          </p:nvSpPr>
          <p:spPr>
            <a:xfrm>
              <a:off x="6236208" y="4005072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18" name="Text 116"/>
            <p:cNvSpPr/>
            <p:nvPr/>
          </p:nvSpPr>
          <p:spPr>
            <a:xfrm>
              <a:off x="6236208" y="399592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119" name="Text 117"/>
            <p:cNvSpPr/>
            <p:nvPr/>
          </p:nvSpPr>
          <p:spPr>
            <a:xfrm>
              <a:off x="6455664" y="397764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 torque in tiny body</a:t>
              </a:r>
              <a:endParaRPr lang="en-US" sz="950" dirty="0"/>
            </a:p>
          </p:txBody>
        </p:sp>
        <p:sp>
          <p:nvSpPr>
            <p:cNvPr id="120" name="Shape 118"/>
            <p:cNvSpPr/>
            <p:nvPr/>
          </p:nvSpPr>
          <p:spPr>
            <a:xfrm>
              <a:off x="6236208" y="4251960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21" name="Text 119"/>
            <p:cNvSpPr/>
            <p:nvPr/>
          </p:nvSpPr>
          <p:spPr>
            <a:xfrm>
              <a:off x="6236208" y="424281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122" name="Text 120"/>
            <p:cNvSpPr/>
            <p:nvPr/>
          </p:nvSpPr>
          <p:spPr>
            <a:xfrm>
              <a:off x="6455664" y="422452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Extremely precise movement</a:t>
              </a:r>
              <a:endParaRPr lang="en-US" sz="950" dirty="0"/>
            </a:p>
          </p:txBody>
        </p:sp>
        <p:sp>
          <p:nvSpPr>
            <p:cNvPr id="123" name="Text 121"/>
            <p:cNvSpPr/>
            <p:nvPr/>
          </p:nvSpPr>
          <p:spPr>
            <a:xfrm>
              <a:off x="6236208" y="452628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</a:t>
              </a:r>
              <a:endParaRPr lang="en-US" sz="900" dirty="0"/>
            </a:p>
          </p:txBody>
        </p:sp>
        <p:sp>
          <p:nvSpPr>
            <p:cNvPr id="124" name="Shape 122"/>
            <p:cNvSpPr/>
            <p:nvPr/>
          </p:nvSpPr>
          <p:spPr>
            <a:xfrm>
              <a:off x="6236208" y="4773168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25" name="Text 123"/>
            <p:cNvSpPr/>
            <p:nvPr/>
          </p:nvSpPr>
          <p:spPr>
            <a:xfrm>
              <a:off x="6236208" y="4764024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26" name="Text 124"/>
            <p:cNvSpPr/>
            <p:nvPr/>
          </p:nvSpPr>
          <p:spPr>
            <a:xfrm>
              <a:off x="6455664" y="4745736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Expensive encoder versions</a:t>
              </a:r>
              <a:endParaRPr lang="en-US" sz="950" dirty="0"/>
            </a:p>
          </p:txBody>
        </p:sp>
        <p:sp>
          <p:nvSpPr>
            <p:cNvPr id="127" name="Shape 125"/>
            <p:cNvSpPr/>
            <p:nvPr/>
          </p:nvSpPr>
          <p:spPr>
            <a:xfrm>
              <a:off x="6236208" y="5020056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28" name="Text 126"/>
            <p:cNvSpPr/>
            <p:nvPr/>
          </p:nvSpPr>
          <p:spPr>
            <a:xfrm>
              <a:off x="6236208" y="5010912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29" name="Text 127"/>
            <p:cNvSpPr/>
            <p:nvPr/>
          </p:nvSpPr>
          <p:spPr>
            <a:xfrm>
              <a:off x="6455664" y="4992624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 wheel hub needed</a:t>
              </a:r>
              <a:endParaRPr lang="en-US" sz="950" dirty="0"/>
            </a:p>
          </p:txBody>
        </p:sp>
        <p:sp>
          <p:nvSpPr>
            <p:cNvPr id="130" name="Shape 128"/>
            <p:cNvSpPr/>
            <p:nvPr/>
          </p:nvSpPr>
          <p:spPr>
            <a:xfrm>
              <a:off x="6236208" y="5266944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31" name="Text 129"/>
            <p:cNvSpPr/>
            <p:nvPr/>
          </p:nvSpPr>
          <p:spPr>
            <a:xfrm>
              <a:off x="6236208" y="525780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32" name="Text 130"/>
            <p:cNvSpPr/>
            <p:nvPr/>
          </p:nvSpPr>
          <p:spPr>
            <a:xfrm>
              <a:off x="6455664" y="523951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Hard to source in India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0081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66928"/>
          </a:xfrm>
          <a:prstGeom prst="rect">
            <a:avLst/>
          </a:prstGeom>
          <a:noFill/>
          <a:ln/>
          <a:effectLst>
            <a:outerShdw blurRad="254000" dist="12700" dir="8100000" algn="bl" rotWithShape="0">
              <a:srgbClr val="00E5FF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7512"/>
            <a:ext cx="9144000" cy="109728"/>
          </a:xfrm>
          <a:prstGeom prst="rect">
            <a:avLst/>
          </a:prstGeom>
          <a:solidFill>
            <a:srgbClr val="00E5FF">
              <a:alpha val="10000"/>
            </a:srgbClr>
          </a:solidFill>
          <a:ln/>
        </p:spPr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3069FAE0-24A6-FE80-2346-59F103473080}"/>
              </a:ext>
            </a:extLst>
          </p:cNvPr>
          <p:cNvGrpSpPr/>
          <p:nvPr/>
        </p:nvGrpSpPr>
        <p:grpSpPr>
          <a:xfrm>
            <a:off x="201168" y="804672"/>
            <a:ext cx="2816352" cy="4338828"/>
            <a:chOff x="201168" y="804672"/>
            <a:chExt cx="2816352" cy="4901184"/>
          </a:xfrm>
        </p:grpSpPr>
        <p:sp>
          <p:nvSpPr>
            <p:cNvPr id="6" name="Shape 4"/>
            <p:cNvSpPr/>
            <p:nvPr/>
          </p:nvSpPr>
          <p:spPr>
            <a:xfrm>
              <a:off x="201168" y="804672"/>
              <a:ext cx="2816352" cy="4901184"/>
            </a:xfrm>
            <a:prstGeom prst="rect">
              <a:avLst/>
            </a:prstGeom>
            <a:solidFill>
              <a:srgbClr val="061828"/>
            </a:solidFill>
            <a:ln w="25400">
              <a:solidFill>
                <a:srgbClr val="00FF87"/>
              </a:solidFill>
              <a:prstDash val="solid"/>
            </a:ln>
            <a:effectLst>
              <a:outerShdw blurRad="254000" dist="12700" dir="8100000" algn="bl" rotWithShape="0">
                <a:srgbClr val="00FF87">
                  <a:alpha val="70000"/>
                </a:srgbClr>
              </a:outerShdw>
            </a:effectLst>
          </p:spPr>
        </p:sp>
        <p:sp>
          <p:nvSpPr>
            <p:cNvPr id="7" name="Shape 5"/>
            <p:cNvSpPr/>
            <p:nvPr/>
          </p:nvSpPr>
          <p:spPr>
            <a:xfrm>
              <a:off x="201168" y="804672"/>
              <a:ext cx="2816352" cy="54864"/>
            </a:xfrm>
            <a:prstGeom prst="rect">
              <a:avLst/>
            </a:prstGeom>
            <a:solidFill>
              <a:srgbClr val="00FF87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292608" y="877824"/>
              <a:ext cx="1463040" cy="274320"/>
            </a:xfrm>
            <a:prstGeom prst="rect">
              <a:avLst/>
            </a:prstGeom>
            <a:solidFill>
              <a:srgbClr val="00FF87">
                <a:alpha val="22000"/>
              </a:srgbClr>
            </a:solidFill>
            <a:ln w="10160">
              <a:solidFill>
                <a:srgbClr val="00FF87"/>
              </a:solidFill>
              <a:prstDash val="solid"/>
            </a:ln>
            <a:effectLst>
              <a:outerShdw blurRad="1016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9" name="Text 7"/>
            <p:cNvSpPr/>
            <p:nvPr/>
          </p:nvSpPr>
          <p:spPr>
            <a:xfrm>
              <a:off x="292608" y="896112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FF87"/>
                  </a:solidFill>
                </a:rPr>
                <a:t>Best Choice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92608" y="1207008"/>
              <a:ext cx="2606040" cy="329184"/>
            </a:xfrm>
            <a:prstGeom prst="rect">
              <a:avLst/>
            </a:prstGeom>
            <a:noFill/>
            <a:ln/>
            <a:effectLst>
              <a:outerShdw blurRad="50800" dist="12700" dir="8100000" algn="bl" rotWithShape="0">
                <a:srgbClr val="00FF87">
                  <a:alpha val="55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34mm Rubber Tyre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2608" y="1536192"/>
              <a:ext cx="2606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Rubber on plastic hub · BO shaft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395728" y="175564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00FF87"/>
                  </a:solidFill>
                </a:rPr>
                <a:t>9/10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92608" y="1956816"/>
              <a:ext cx="2606040" cy="91440"/>
            </a:xfrm>
            <a:prstGeom prst="rect">
              <a:avLst/>
            </a:prstGeom>
            <a:solidFill>
              <a:srgbClr val="0D3050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292608" y="1956816"/>
              <a:ext cx="2345436" cy="91440"/>
            </a:xfrm>
            <a:prstGeom prst="rect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5" name="Text 13"/>
            <p:cNvSpPr/>
            <p:nvPr/>
          </p:nvSpPr>
          <p:spPr>
            <a:xfrm>
              <a:off x="292608" y="212140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Diameter</a:t>
              </a:r>
              <a:endParaRPr lang="en-US" sz="9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481328" y="212140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E5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34 mm</a:t>
              </a:r>
              <a:endParaRPr lang="en-US" sz="9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92608" y="2340864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@300RPM</a:t>
              </a:r>
              <a:endParaRPr lang="en-US" sz="9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481328" y="2340864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53 cm/s</a:t>
              </a:r>
              <a:endParaRPr lang="en-US" sz="9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92608" y="2560320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@200RPM</a:t>
              </a:r>
              <a:endParaRPr lang="en-US" sz="9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481328" y="2560320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36 cm/s</a:t>
              </a:r>
              <a:endParaRPr lang="en-US" sz="9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292608" y="2779776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Grip</a:t>
              </a:r>
              <a:endParaRPr lang="en-US" sz="9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481328" y="277977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Excellent on chart paper</a:t>
              </a:r>
              <a:endParaRPr lang="en-US" sz="9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92608" y="2999232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Hub</a:t>
              </a:r>
              <a:endParaRPr lang="en-US" sz="9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481328" y="2999232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 BO D-shaft</a:t>
              </a:r>
              <a:endParaRPr lang="en-US" sz="9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92608" y="321868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</a:t>
              </a:r>
              <a:endParaRPr lang="en-US" sz="9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481328" y="321868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₹40–60 pair</a:t>
              </a:r>
              <a:endParaRPr lang="en-US" sz="9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292608" y="3474720"/>
              <a:ext cx="2606040" cy="0"/>
            </a:xfrm>
            <a:prstGeom prst="line">
              <a:avLst/>
            </a:prstGeom>
            <a:noFill/>
            <a:ln w="6350">
              <a:solidFill>
                <a:srgbClr val="0D3050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292608" y="3511296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</a:t>
              </a:r>
              <a:endParaRPr lang="en-US" sz="9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292608" y="3758184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0" name="Text 28"/>
            <p:cNvSpPr/>
            <p:nvPr/>
          </p:nvSpPr>
          <p:spPr>
            <a:xfrm>
              <a:off x="292608" y="374904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512064" y="373075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Max grip on chart paper &amp; plywood</a:t>
              </a:r>
              <a:endParaRPr lang="en-US" sz="95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292608" y="4005072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3" name="Text 31"/>
            <p:cNvSpPr/>
            <p:nvPr/>
          </p:nvSpPr>
          <p:spPr>
            <a:xfrm>
              <a:off x="292608" y="399592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512064" y="397764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Speed is controllable at 300 RPM</a:t>
              </a:r>
              <a:endParaRPr lang="en-US" sz="95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292608" y="4251960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6" name="Text 34"/>
            <p:cNvSpPr/>
            <p:nvPr/>
          </p:nvSpPr>
          <p:spPr>
            <a:xfrm>
              <a:off x="292608" y="424281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512064" y="422452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Encoder counts stay accurate</a:t>
              </a:r>
              <a:endParaRPr lang="en-US" sz="95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292608" y="4498848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9" name="Text 37"/>
            <p:cNvSpPr/>
            <p:nvPr/>
          </p:nvSpPr>
          <p:spPr>
            <a:xfrm>
              <a:off x="292608" y="4489704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512064" y="4471416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Plug-and-play BO motor hub</a:t>
              </a:r>
              <a:endParaRPr lang="en-US" sz="95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292608" y="4773168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</a:t>
              </a:r>
              <a:endParaRPr lang="en-US" sz="9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292608" y="5020056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43" name="Text 41"/>
            <p:cNvSpPr/>
            <p:nvPr/>
          </p:nvSpPr>
          <p:spPr>
            <a:xfrm>
              <a:off x="292608" y="5010912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512064" y="4992624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 ground clearance</a:t>
              </a:r>
              <a:endParaRPr lang="en-US" sz="95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292608" y="5266944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46" name="Text 44"/>
            <p:cNvSpPr/>
            <p:nvPr/>
          </p:nvSpPr>
          <p:spPr>
            <a:xfrm>
              <a:off x="292608" y="525780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512064" y="523951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Picks up dust — wipe before run</a:t>
              </a:r>
              <a:endParaRPr lang="en-US" sz="95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292608" y="5513832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49" name="Text 47"/>
            <p:cNvSpPr/>
            <p:nvPr/>
          </p:nvSpPr>
          <p:spPr>
            <a:xfrm>
              <a:off x="292608" y="550468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512064" y="548640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Limited size options</a:t>
              </a:r>
              <a:endParaRPr lang="en-US" sz="950" dirty="0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A565147-9DB0-C6FB-C621-03B3399EC8FC}"/>
              </a:ext>
            </a:extLst>
          </p:cNvPr>
          <p:cNvGrpSpPr/>
          <p:nvPr/>
        </p:nvGrpSpPr>
        <p:grpSpPr>
          <a:xfrm>
            <a:off x="3172968" y="804671"/>
            <a:ext cx="2816352" cy="4338829"/>
            <a:chOff x="3172968" y="804671"/>
            <a:chExt cx="2816352" cy="5232061"/>
          </a:xfrm>
        </p:grpSpPr>
        <p:sp>
          <p:nvSpPr>
            <p:cNvPr id="51" name="Shape 49"/>
            <p:cNvSpPr/>
            <p:nvPr/>
          </p:nvSpPr>
          <p:spPr>
            <a:xfrm>
              <a:off x="3172968" y="804671"/>
              <a:ext cx="2816352" cy="5232061"/>
            </a:xfrm>
            <a:prstGeom prst="rect">
              <a:avLst/>
            </a:prstGeom>
            <a:solidFill>
              <a:srgbClr val="061828"/>
            </a:solidFill>
            <a:ln w="25400">
              <a:solidFill>
                <a:srgbClr val="FF3D5A"/>
              </a:solidFill>
              <a:prstDash val="solid"/>
            </a:ln>
            <a:effectLst>
              <a:outerShdw blurRad="1524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52" name="Shape 50"/>
            <p:cNvSpPr/>
            <p:nvPr/>
          </p:nvSpPr>
          <p:spPr>
            <a:xfrm>
              <a:off x="3264408" y="877824"/>
              <a:ext cx="1463040" cy="274320"/>
            </a:xfrm>
            <a:prstGeom prst="rect">
              <a:avLst/>
            </a:prstGeom>
            <a:solidFill>
              <a:srgbClr val="FF3D5A">
                <a:alpha val="22000"/>
              </a:srgbClr>
            </a:solidFill>
            <a:ln w="10160">
              <a:solidFill>
                <a:srgbClr val="FF3D5A"/>
              </a:solidFill>
              <a:prstDash val="solid"/>
            </a:ln>
            <a:effectLst>
              <a:outerShdw blurRad="1016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53" name="Text 51"/>
            <p:cNvSpPr/>
            <p:nvPr/>
          </p:nvSpPr>
          <p:spPr>
            <a:xfrm>
              <a:off x="3264408" y="896112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3D5A"/>
                  </a:solidFill>
                </a:rPr>
                <a:t>Too Fast — Avoid</a:t>
              </a:r>
              <a:endParaRPr lang="en-US" sz="10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3264408" y="1207008"/>
              <a:ext cx="2606040" cy="329184"/>
            </a:xfrm>
            <a:prstGeom prst="rect">
              <a:avLst/>
            </a:prstGeom>
            <a:noFill/>
            <a:ln/>
            <a:effectLst>
              <a:outerShdw blurRad="50800" dist="12700" dir="8100000" algn="bl" rotWithShape="0">
                <a:srgbClr val="FF3D5A">
                  <a:alpha val="55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83mm Rubber Wheel</a:t>
              </a:r>
              <a:endParaRPr lang="en-US" sz="14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3264408" y="1536192"/>
              <a:ext cx="2606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Large rubber tyre · adapter hub</a:t>
              </a:r>
              <a:endParaRPr lang="en-US" sz="9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5367528" y="175564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FF3D5A"/>
                  </a:solidFill>
                </a:rPr>
                <a:t>3/10</a:t>
              </a:r>
              <a:endParaRPr lang="en-US" sz="10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3264408" y="1956816"/>
              <a:ext cx="2606040" cy="91440"/>
            </a:xfrm>
            <a:prstGeom prst="rect">
              <a:avLst/>
            </a:prstGeom>
            <a:solidFill>
              <a:srgbClr val="0D3050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3264408" y="1956816"/>
              <a:ext cx="781812" cy="91440"/>
            </a:xfrm>
            <a:prstGeom prst="rect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59" name="Text 57"/>
            <p:cNvSpPr/>
            <p:nvPr/>
          </p:nvSpPr>
          <p:spPr>
            <a:xfrm>
              <a:off x="3264408" y="212140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Diameter</a:t>
              </a:r>
              <a:endParaRPr lang="en-US" sz="95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4453128" y="212140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E5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83 mm</a:t>
              </a:r>
              <a:endParaRPr lang="en-US" sz="95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3264408" y="2340864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@300RPM</a:t>
              </a:r>
              <a:endParaRPr lang="en-US" sz="95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4453128" y="2340864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130 cm/s !!</a:t>
              </a:r>
              <a:endParaRPr lang="en-US" sz="95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3264408" y="2560320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@200RPM</a:t>
              </a:r>
              <a:endParaRPr lang="en-US" sz="95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4453128" y="2560320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87 cm/s</a:t>
              </a:r>
              <a:endParaRPr lang="en-US" sz="95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3264408" y="2779776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Grip</a:t>
              </a:r>
              <a:endParaRPr lang="en-US" sz="950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4453128" y="277977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Good on flat floors</a:t>
              </a:r>
              <a:endParaRPr lang="en-US" sz="95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3264408" y="2999232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Hub</a:t>
              </a:r>
              <a:endParaRPr lang="en-US" sz="95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4453128" y="2999232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Needs adapter</a:t>
              </a:r>
              <a:endParaRPr lang="en-US" sz="950" dirty="0"/>
            </a:p>
          </p:txBody>
        </p:sp>
        <p:sp>
          <p:nvSpPr>
            <p:cNvPr id="69" name="Text 67"/>
            <p:cNvSpPr/>
            <p:nvPr/>
          </p:nvSpPr>
          <p:spPr>
            <a:xfrm>
              <a:off x="3264408" y="321868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</a:t>
              </a:r>
              <a:endParaRPr lang="en-US" sz="950" dirty="0"/>
            </a:p>
          </p:txBody>
        </p:sp>
        <p:sp>
          <p:nvSpPr>
            <p:cNvPr id="70" name="Text 68"/>
            <p:cNvSpPr/>
            <p:nvPr/>
          </p:nvSpPr>
          <p:spPr>
            <a:xfrm>
              <a:off x="4453128" y="321868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₹80–150 pair</a:t>
              </a:r>
              <a:endParaRPr lang="en-US" sz="95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3264408" y="3474720"/>
              <a:ext cx="2606040" cy="0"/>
            </a:xfrm>
            <a:prstGeom prst="line">
              <a:avLst/>
            </a:prstGeom>
            <a:noFill/>
            <a:ln w="6350">
              <a:solidFill>
                <a:srgbClr val="0D3050"/>
              </a:solidFill>
              <a:prstDash val="solid"/>
            </a:ln>
          </p:spPr>
        </p:sp>
        <p:sp>
          <p:nvSpPr>
            <p:cNvPr id="72" name="Text 70"/>
            <p:cNvSpPr/>
            <p:nvPr/>
          </p:nvSpPr>
          <p:spPr>
            <a:xfrm>
              <a:off x="3264408" y="3511296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</a:t>
              </a:r>
              <a:endParaRPr lang="en-US" sz="900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3264408" y="3758184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74" name="Text 72"/>
            <p:cNvSpPr/>
            <p:nvPr/>
          </p:nvSpPr>
          <p:spPr>
            <a:xfrm>
              <a:off x="3264408" y="374904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3483864" y="373075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 ground clearance</a:t>
              </a:r>
              <a:endParaRPr lang="en-US" sz="95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3264408" y="4005072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77" name="Text 75"/>
            <p:cNvSpPr/>
            <p:nvPr/>
          </p:nvSpPr>
          <p:spPr>
            <a:xfrm>
              <a:off x="3264408" y="399592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78" name="Text 76"/>
            <p:cNvSpPr/>
            <p:nvPr/>
          </p:nvSpPr>
          <p:spPr>
            <a:xfrm>
              <a:off x="3483864" y="397764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Smooth over tile gaps</a:t>
              </a:r>
              <a:endParaRPr lang="en-US" sz="950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3264408" y="4251960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80" name="Text 78"/>
            <p:cNvSpPr/>
            <p:nvPr/>
          </p:nvSpPr>
          <p:spPr>
            <a:xfrm>
              <a:off x="3264408" y="424281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81" name="Text 79"/>
            <p:cNvSpPr/>
            <p:nvPr/>
          </p:nvSpPr>
          <p:spPr>
            <a:xfrm>
              <a:off x="3483864" y="422452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Good for outdoor robots</a:t>
              </a:r>
              <a:endParaRPr lang="en-US" sz="950" dirty="0"/>
            </a:p>
          </p:txBody>
        </p:sp>
        <p:sp>
          <p:nvSpPr>
            <p:cNvPr id="82" name="Text 80"/>
            <p:cNvSpPr/>
            <p:nvPr/>
          </p:nvSpPr>
          <p:spPr>
            <a:xfrm>
              <a:off x="3264408" y="452628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</a:t>
              </a:r>
              <a:endParaRPr lang="en-US" sz="900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3264408" y="4773168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84" name="Text 82"/>
            <p:cNvSpPr/>
            <p:nvPr/>
          </p:nvSpPr>
          <p:spPr>
            <a:xfrm>
              <a:off x="3264408" y="4764024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85" name="Text 83"/>
            <p:cNvSpPr/>
            <p:nvPr/>
          </p:nvSpPr>
          <p:spPr>
            <a:xfrm>
              <a:off x="3483864" y="4745736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130cm/s = UNCONTROLLABLE in maze</a:t>
              </a:r>
              <a:endParaRPr lang="en-US" sz="950" dirty="0"/>
            </a:p>
          </p:txBody>
        </p:sp>
        <p:sp>
          <p:nvSpPr>
            <p:cNvPr id="86" name="Shape 84"/>
            <p:cNvSpPr/>
            <p:nvPr/>
          </p:nvSpPr>
          <p:spPr>
            <a:xfrm>
              <a:off x="3264408" y="5020056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87" name="Text 85"/>
            <p:cNvSpPr/>
            <p:nvPr/>
          </p:nvSpPr>
          <p:spPr>
            <a:xfrm>
              <a:off x="3264408" y="5010912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88" name="Text 86"/>
            <p:cNvSpPr/>
            <p:nvPr/>
          </p:nvSpPr>
          <p:spPr>
            <a:xfrm>
              <a:off x="3483864" y="4992624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Must run at 25% PWM = poor control</a:t>
              </a:r>
              <a:endParaRPr lang="en-US" sz="950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3264408" y="5266944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90" name="Text 88"/>
            <p:cNvSpPr/>
            <p:nvPr/>
          </p:nvSpPr>
          <p:spPr>
            <a:xfrm>
              <a:off x="3264408" y="525780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91" name="Text 89"/>
            <p:cNvSpPr/>
            <p:nvPr/>
          </p:nvSpPr>
          <p:spPr>
            <a:xfrm>
              <a:off x="3483864" y="523951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Heavy — slow acceleration/braking</a:t>
              </a:r>
              <a:endParaRPr lang="en-US" sz="950" dirty="0"/>
            </a:p>
          </p:txBody>
        </p:sp>
        <p:sp>
          <p:nvSpPr>
            <p:cNvPr id="92" name="Shape 90"/>
            <p:cNvSpPr/>
            <p:nvPr/>
          </p:nvSpPr>
          <p:spPr>
            <a:xfrm>
              <a:off x="3264408" y="5513832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93" name="Text 91"/>
            <p:cNvSpPr/>
            <p:nvPr/>
          </p:nvSpPr>
          <p:spPr>
            <a:xfrm>
              <a:off x="3264408" y="550468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94" name="Text 92"/>
            <p:cNvSpPr/>
            <p:nvPr/>
          </p:nvSpPr>
          <p:spPr>
            <a:xfrm>
              <a:off x="3483864" y="548640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Needs hub adapter for BO shaft</a:t>
              </a:r>
              <a:endParaRPr lang="en-US" sz="950" dirty="0"/>
            </a:p>
          </p:txBody>
        </p:sp>
        <p:sp>
          <p:nvSpPr>
            <p:cNvPr id="95" name="Shape 93"/>
            <p:cNvSpPr/>
            <p:nvPr/>
          </p:nvSpPr>
          <p:spPr>
            <a:xfrm>
              <a:off x="3264408" y="5760720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96" name="Text 94"/>
            <p:cNvSpPr/>
            <p:nvPr/>
          </p:nvSpPr>
          <p:spPr>
            <a:xfrm>
              <a:off x="3264408" y="575157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97" name="Text 95"/>
            <p:cNvSpPr/>
            <p:nvPr/>
          </p:nvSpPr>
          <p:spPr>
            <a:xfrm>
              <a:off x="3483864" y="573328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Overshoots every 28cm turn</a:t>
              </a:r>
              <a:endParaRPr lang="en-US" sz="950" dirty="0"/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0C05F76D-BE2F-967F-4087-05D61C50A7D3}"/>
              </a:ext>
            </a:extLst>
          </p:cNvPr>
          <p:cNvGrpSpPr/>
          <p:nvPr/>
        </p:nvGrpSpPr>
        <p:grpSpPr>
          <a:xfrm>
            <a:off x="6181344" y="804672"/>
            <a:ext cx="2779776" cy="4338828"/>
            <a:chOff x="6181344" y="804672"/>
            <a:chExt cx="2779776" cy="4901184"/>
          </a:xfrm>
        </p:grpSpPr>
        <p:sp>
          <p:nvSpPr>
            <p:cNvPr id="98" name="Shape 96"/>
            <p:cNvSpPr/>
            <p:nvPr/>
          </p:nvSpPr>
          <p:spPr>
            <a:xfrm>
              <a:off x="6181344" y="804672"/>
              <a:ext cx="2779776" cy="4901184"/>
            </a:xfrm>
            <a:prstGeom prst="rect">
              <a:avLst/>
            </a:prstGeom>
            <a:solidFill>
              <a:srgbClr val="061828"/>
            </a:solidFill>
            <a:ln w="15240">
              <a:solidFill>
                <a:srgbClr val="FFB800"/>
              </a:solidFill>
              <a:prstDash val="solid"/>
            </a:ln>
            <a:effectLst>
              <a:outerShdw blurRad="152400" dist="12700" dir="8100000" algn="bl" rotWithShape="0">
                <a:srgbClr val="FFB800">
                  <a:alpha val="55000"/>
                </a:srgbClr>
              </a:outerShdw>
            </a:effectLst>
          </p:spPr>
        </p:sp>
        <p:sp>
          <p:nvSpPr>
            <p:cNvPr id="99" name="Shape 97"/>
            <p:cNvSpPr/>
            <p:nvPr/>
          </p:nvSpPr>
          <p:spPr>
            <a:xfrm>
              <a:off x="6236208" y="877824"/>
              <a:ext cx="1463040" cy="274320"/>
            </a:xfrm>
            <a:prstGeom prst="rect">
              <a:avLst/>
            </a:prstGeom>
            <a:solidFill>
              <a:srgbClr val="FFB800">
                <a:alpha val="22000"/>
              </a:srgbClr>
            </a:solidFill>
            <a:ln w="10160">
              <a:solidFill>
                <a:srgbClr val="FFB800"/>
              </a:solidFill>
              <a:prstDash val="solid"/>
            </a:ln>
            <a:effectLst>
              <a:outerShdw blurRad="101600" dist="12700" dir="8100000" algn="bl" rotWithShape="0">
                <a:srgbClr val="FFB800">
                  <a:alpha val="55000"/>
                </a:srgbClr>
              </a:outerShdw>
            </a:effectLst>
          </p:spPr>
        </p:sp>
        <p:sp>
          <p:nvSpPr>
            <p:cNvPr id="100" name="Text 98"/>
            <p:cNvSpPr/>
            <p:nvPr/>
          </p:nvSpPr>
          <p:spPr>
            <a:xfrm>
              <a:off x="6236208" y="896112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B800"/>
                  </a:solidFill>
                </a:rPr>
                <a:t>Budget Only</a:t>
              </a:r>
              <a:endParaRPr lang="en-US" sz="1000" dirty="0"/>
            </a:p>
          </p:txBody>
        </p:sp>
        <p:sp>
          <p:nvSpPr>
            <p:cNvPr id="101" name="Text 99"/>
            <p:cNvSpPr/>
            <p:nvPr/>
          </p:nvSpPr>
          <p:spPr>
            <a:xfrm>
              <a:off x="6236208" y="1207008"/>
              <a:ext cx="2606040" cy="329184"/>
            </a:xfrm>
            <a:prstGeom prst="rect">
              <a:avLst/>
            </a:prstGeom>
            <a:noFill/>
            <a:ln/>
            <a:effectLst>
              <a:outerShdw blurRad="50800" dist="12700" dir="8100000" algn="bl" rotWithShape="0">
                <a:srgbClr val="FFB800">
                  <a:alpha val="55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65mm Plastic Wheel</a:t>
              </a:r>
              <a:endParaRPr lang="en-US" sz="1400" dirty="0"/>
            </a:p>
          </p:txBody>
        </p:sp>
        <p:sp>
          <p:nvSpPr>
            <p:cNvPr id="102" name="Text 100"/>
            <p:cNvSpPr/>
            <p:nvPr/>
          </p:nvSpPr>
          <p:spPr>
            <a:xfrm>
              <a:off x="6236208" y="1536192"/>
              <a:ext cx="2606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Hard plastic hub · standard BO kit</a:t>
              </a:r>
              <a:endParaRPr lang="en-US" sz="900" dirty="0"/>
            </a:p>
          </p:txBody>
        </p:sp>
        <p:sp>
          <p:nvSpPr>
            <p:cNvPr id="103" name="Text 101"/>
            <p:cNvSpPr/>
            <p:nvPr/>
          </p:nvSpPr>
          <p:spPr>
            <a:xfrm>
              <a:off x="8339328" y="175564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FFB800"/>
                  </a:solidFill>
                </a:rPr>
                <a:t>4/10</a:t>
              </a:r>
              <a:endParaRPr lang="en-US" sz="1000" dirty="0"/>
            </a:p>
          </p:txBody>
        </p:sp>
        <p:sp>
          <p:nvSpPr>
            <p:cNvPr id="104" name="Shape 102"/>
            <p:cNvSpPr/>
            <p:nvPr/>
          </p:nvSpPr>
          <p:spPr>
            <a:xfrm>
              <a:off x="6236208" y="1956816"/>
              <a:ext cx="2606040" cy="91440"/>
            </a:xfrm>
            <a:prstGeom prst="rect">
              <a:avLst/>
            </a:prstGeom>
            <a:solidFill>
              <a:srgbClr val="0D3050"/>
            </a:solidFill>
            <a:ln/>
          </p:spPr>
        </p:sp>
        <p:sp>
          <p:nvSpPr>
            <p:cNvPr id="105" name="Shape 103"/>
            <p:cNvSpPr/>
            <p:nvPr/>
          </p:nvSpPr>
          <p:spPr>
            <a:xfrm>
              <a:off x="6236208" y="1956816"/>
              <a:ext cx="1042416" cy="91440"/>
            </a:xfrm>
            <a:prstGeom prst="rect">
              <a:avLst/>
            </a:prstGeom>
            <a:solidFill>
              <a:srgbClr val="FFB800"/>
            </a:solidFill>
            <a:ln/>
            <a:effectLst>
              <a:outerShdw blurRad="76200" dist="12700" dir="8100000" algn="bl" rotWithShape="0">
                <a:srgbClr val="FFB800">
                  <a:alpha val="55000"/>
                </a:srgbClr>
              </a:outerShdw>
            </a:effectLst>
          </p:spPr>
        </p:sp>
        <p:sp>
          <p:nvSpPr>
            <p:cNvPr id="106" name="Text 104"/>
            <p:cNvSpPr/>
            <p:nvPr/>
          </p:nvSpPr>
          <p:spPr>
            <a:xfrm>
              <a:off x="6236208" y="212140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Diameter</a:t>
              </a:r>
              <a:endParaRPr lang="en-US" sz="950" dirty="0"/>
            </a:p>
          </p:txBody>
        </p:sp>
        <p:sp>
          <p:nvSpPr>
            <p:cNvPr id="107" name="Text 105"/>
            <p:cNvSpPr/>
            <p:nvPr/>
          </p:nvSpPr>
          <p:spPr>
            <a:xfrm>
              <a:off x="7424928" y="212140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E5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65 mm</a:t>
              </a:r>
              <a:endParaRPr lang="en-US" sz="950" dirty="0"/>
            </a:p>
          </p:txBody>
        </p:sp>
        <p:sp>
          <p:nvSpPr>
            <p:cNvPr id="108" name="Text 106"/>
            <p:cNvSpPr/>
            <p:nvPr/>
          </p:nvSpPr>
          <p:spPr>
            <a:xfrm>
              <a:off x="6236208" y="2340864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@300RPM</a:t>
              </a:r>
              <a:endParaRPr lang="en-US" sz="950" dirty="0"/>
            </a:p>
          </p:txBody>
        </p:sp>
        <p:sp>
          <p:nvSpPr>
            <p:cNvPr id="109" name="Text 107"/>
            <p:cNvSpPr/>
            <p:nvPr/>
          </p:nvSpPr>
          <p:spPr>
            <a:xfrm>
              <a:off x="7424928" y="2340864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102 cm/s</a:t>
              </a:r>
              <a:endParaRPr lang="en-US" sz="950" dirty="0"/>
            </a:p>
          </p:txBody>
        </p:sp>
        <p:sp>
          <p:nvSpPr>
            <p:cNvPr id="110" name="Text 108"/>
            <p:cNvSpPr/>
            <p:nvPr/>
          </p:nvSpPr>
          <p:spPr>
            <a:xfrm>
              <a:off x="6236208" y="2560320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@200RPM</a:t>
              </a:r>
              <a:endParaRPr lang="en-US" sz="950" dirty="0"/>
            </a:p>
          </p:txBody>
        </p:sp>
        <p:sp>
          <p:nvSpPr>
            <p:cNvPr id="111" name="Text 109"/>
            <p:cNvSpPr/>
            <p:nvPr/>
          </p:nvSpPr>
          <p:spPr>
            <a:xfrm>
              <a:off x="7424928" y="2560320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68 cm/s</a:t>
              </a:r>
              <a:endParaRPr lang="en-US" sz="950" dirty="0"/>
            </a:p>
          </p:txBody>
        </p:sp>
        <p:sp>
          <p:nvSpPr>
            <p:cNvPr id="112" name="Text 110"/>
            <p:cNvSpPr/>
            <p:nvPr/>
          </p:nvSpPr>
          <p:spPr>
            <a:xfrm>
              <a:off x="6236208" y="2779776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Grip</a:t>
              </a:r>
              <a:endParaRPr lang="en-US" sz="950" dirty="0"/>
            </a:p>
          </p:txBody>
        </p:sp>
        <p:sp>
          <p:nvSpPr>
            <p:cNvPr id="113" name="Text 111"/>
            <p:cNvSpPr/>
            <p:nvPr/>
          </p:nvSpPr>
          <p:spPr>
            <a:xfrm>
              <a:off x="7424928" y="277977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Slips on smooth surfaces</a:t>
              </a:r>
              <a:endParaRPr lang="en-US" sz="950" dirty="0"/>
            </a:p>
          </p:txBody>
        </p:sp>
        <p:sp>
          <p:nvSpPr>
            <p:cNvPr id="114" name="Text 112"/>
            <p:cNvSpPr/>
            <p:nvPr/>
          </p:nvSpPr>
          <p:spPr>
            <a:xfrm>
              <a:off x="6236208" y="2999232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Hub</a:t>
              </a:r>
              <a:endParaRPr lang="en-US" sz="950" dirty="0"/>
            </a:p>
          </p:txBody>
        </p:sp>
        <p:sp>
          <p:nvSpPr>
            <p:cNvPr id="115" name="Text 113"/>
            <p:cNvSpPr/>
            <p:nvPr/>
          </p:nvSpPr>
          <p:spPr>
            <a:xfrm>
              <a:off x="7424928" y="2999232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 BO D-shaft</a:t>
              </a:r>
              <a:endParaRPr lang="en-US" sz="950" dirty="0"/>
            </a:p>
          </p:txBody>
        </p:sp>
        <p:sp>
          <p:nvSpPr>
            <p:cNvPr id="116" name="Text 114"/>
            <p:cNvSpPr/>
            <p:nvPr/>
          </p:nvSpPr>
          <p:spPr>
            <a:xfrm>
              <a:off x="6236208" y="321868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</a:t>
              </a:r>
              <a:endParaRPr lang="en-US" sz="950" dirty="0"/>
            </a:p>
          </p:txBody>
        </p:sp>
        <p:sp>
          <p:nvSpPr>
            <p:cNvPr id="117" name="Text 115"/>
            <p:cNvSpPr/>
            <p:nvPr/>
          </p:nvSpPr>
          <p:spPr>
            <a:xfrm>
              <a:off x="7424928" y="321868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₹30–50 pair</a:t>
              </a:r>
              <a:endParaRPr lang="en-US" sz="950" dirty="0"/>
            </a:p>
          </p:txBody>
        </p:sp>
        <p:sp>
          <p:nvSpPr>
            <p:cNvPr id="118" name="Shape 116"/>
            <p:cNvSpPr/>
            <p:nvPr/>
          </p:nvSpPr>
          <p:spPr>
            <a:xfrm>
              <a:off x="6236208" y="3474720"/>
              <a:ext cx="2606040" cy="0"/>
            </a:xfrm>
            <a:prstGeom prst="line">
              <a:avLst/>
            </a:prstGeom>
            <a:noFill/>
            <a:ln w="6350">
              <a:solidFill>
                <a:srgbClr val="0D3050"/>
              </a:solidFill>
              <a:prstDash val="solid"/>
            </a:ln>
          </p:spPr>
        </p:sp>
        <p:sp>
          <p:nvSpPr>
            <p:cNvPr id="119" name="Text 117"/>
            <p:cNvSpPr/>
            <p:nvPr/>
          </p:nvSpPr>
          <p:spPr>
            <a:xfrm>
              <a:off x="6236208" y="3511296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</a:t>
              </a:r>
              <a:endParaRPr lang="en-US" sz="900" dirty="0"/>
            </a:p>
          </p:txBody>
        </p:sp>
        <p:sp>
          <p:nvSpPr>
            <p:cNvPr id="120" name="Shape 118"/>
            <p:cNvSpPr/>
            <p:nvPr/>
          </p:nvSpPr>
          <p:spPr>
            <a:xfrm>
              <a:off x="6236208" y="3758184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21" name="Text 119"/>
            <p:cNvSpPr/>
            <p:nvPr/>
          </p:nvSpPr>
          <p:spPr>
            <a:xfrm>
              <a:off x="6236208" y="374904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122" name="Text 120"/>
            <p:cNvSpPr/>
            <p:nvPr/>
          </p:nvSpPr>
          <p:spPr>
            <a:xfrm>
              <a:off x="6455664" y="373075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Cheapest available option</a:t>
              </a:r>
              <a:endParaRPr lang="en-US" sz="950" dirty="0"/>
            </a:p>
          </p:txBody>
        </p:sp>
        <p:sp>
          <p:nvSpPr>
            <p:cNvPr id="123" name="Shape 121"/>
            <p:cNvSpPr/>
            <p:nvPr/>
          </p:nvSpPr>
          <p:spPr>
            <a:xfrm>
              <a:off x="6236208" y="4005072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24" name="Text 122"/>
            <p:cNvSpPr/>
            <p:nvPr/>
          </p:nvSpPr>
          <p:spPr>
            <a:xfrm>
              <a:off x="6236208" y="399592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125" name="Text 123"/>
            <p:cNvSpPr/>
            <p:nvPr/>
          </p:nvSpPr>
          <p:spPr>
            <a:xfrm>
              <a:off x="6455664" y="397764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Bundled with BO motor kits</a:t>
              </a:r>
              <a:endParaRPr lang="en-US" sz="950" dirty="0"/>
            </a:p>
          </p:txBody>
        </p:sp>
        <p:sp>
          <p:nvSpPr>
            <p:cNvPr id="126" name="Shape 124"/>
            <p:cNvSpPr/>
            <p:nvPr/>
          </p:nvSpPr>
          <p:spPr>
            <a:xfrm>
              <a:off x="6236208" y="4251960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27" name="Text 125"/>
            <p:cNvSpPr/>
            <p:nvPr/>
          </p:nvSpPr>
          <p:spPr>
            <a:xfrm>
              <a:off x="6236208" y="424281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128" name="Text 126"/>
            <p:cNvSpPr/>
            <p:nvPr/>
          </p:nvSpPr>
          <p:spPr>
            <a:xfrm>
              <a:off x="6455664" y="422452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Consistent diameter over time</a:t>
              </a:r>
              <a:endParaRPr lang="en-US" sz="950" dirty="0"/>
            </a:p>
          </p:txBody>
        </p:sp>
        <p:sp>
          <p:nvSpPr>
            <p:cNvPr id="129" name="Text 127"/>
            <p:cNvSpPr/>
            <p:nvPr/>
          </p:nvSpPr>
          <p:spPr>
            <a:xfrm>
              <a:off x="6236208" y="452628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</a:t>
              </a:r>
              <a:endParaRPr lang="en-US" sz="900" dirty="0"/>
            </a:p>
          </p:txBody>
        </p:sp>
        <p:sp>
          <p:nvSpPr>
            <p:cNvPr id="130" name="Shape 128"/>
            <p:cNvSpPr/>
            <p:nvPr/>
          </p:nvSpPr>
          <p:spPr>
            <a:xfrm>
              <a:off x="6236208" y="4773168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31" name="Text 129"/>
            <p:cNvSpPr/>
            <p:nvPr/>
          </p:nvSpPr>
          <p:spPr>
            <a:xfrm>
              <a:off x="6236208" y="4764024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32" name="Text 130"/>
            <p:cNvSpPr/>
            <p:nvPr/>
          </p:nvSpPr>
          <p:spPr>
            <a:xfrm>
              <a:off x="6455664" y="4745736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Slips on chart paper surface</a:t>
              </a:r>
              <a:endParaRPr lang="en-US" sz="950" dirty="0"/>
            </a:p>
          </p:txBody>
        </p:sp>
        <p:sp>
          <p:nvSpPr>
            <p:cNvPr id="133" name="Shape 131"/>
            <p:cNvSpPr/>
            <p:nvPr/>
          </p:nvSpPr>
          <p:spPr>
            <a:xfrm>
              <a:off x="6236208" y="5020056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34" name="Text 132"/>
            <p:cNvSpPr/>
            <p:nvPr/>
          </p:nvSpPr>
          <p:spPr>
            <a:xfrm>
              <a:off x="6236208" y="5010912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35" name="Text 133"/>
            <p:cNvSpPr/>
            <p:nvPr/>
          </p:nvSpPr>
          <p:spPr>
            <a:xfrm>
              <a:off x="6455664" y="4992624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102cm/s too fast for corridor</a:t>
              </a:r>
              <a:endParaRPr lang="en-US" sz="950" dirty="0"/>
            </a:p>
          </p:txBody>
        </p:sp>
        <p:sp>
          <p:nvSpPr>
            <p:cNvPr id="136" name="Shape 134"/>
            <p:cNvSpPr/>
            <p:nvPr/>
          </p:nvSpPr>
          <p:spPr>
            <a:xfrm>
              <a:off x="6236208" y="5266944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37" name="Text 135"/>
            <p:cNvSpPr/>
            <p:nvPr/>
          </p:nvSpPr>
          <p:spPr>
            <a:xfrm>
              <a:off x="6236208" y="525780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38" name="Text 136"/>
            <p:cNvSpPr/>
            <p:nvPr/>
          </p:nvSpPr>
          <p:spPr>
            <a:xfrm>
              <a:off x="6455664" y="523951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Encoder miscounts due to slip</a:t>
              </a:r>
              <a:endParaRPr lang="en-US" sz="950" dirty="0"/>
            </a:p>
          </p:txBody>
        </p:sp>
        <p:sp>
          <p:nvSpPr>
            <p:cNvPr id="139" name="Shape 137"/>
            <p:cNvSpPr/>
            <p:nvPr/>
          </p:nvSpPr>
          <p:spPr>
            <a:xfrm>
              <a:off x="6236208" y="5513832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40" name="Text 138"/>
            <p:cNvSpPr/>
            <p:nvPr/>
          </p:nvSpPr>
          <p:spPr>
            <a:xfrm>
              <a:off x="6236208" y="550468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41" name="Text 139"/>
            <p:cNvSpPr/>
            <p:nvPr/>
          </p:nvSpPr>
          <p:spPr>
            <a:xfrm>
              <a:off x="6455664" y="548640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Robot drifts sideways on turns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467"/>
            <a:ext cx="9144000" cy="713232"/>
          </a:xfrm>
          <a:prstGeom prst="rect">
            <a:avLst/>
          </a:prstGeom>
          <a:solidFill>
            <a:srgbClr val="00081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66928"/>
          </a:xfrm>
          <a:prstGeom prst="rect">
            <a:avLst/>
          </a:prstGeom>
          <a:noFill/>
          <a:ln/>
          <a:effectLst>
            <a:outerShdw blurRad="254000" dist="12700" dir="8100000" algn="bl" rotWithShape="0">
              <a:srgbClr val="00E5FF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SENSOR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7512"/>
            <a:ext cx="9144000" cy="109728"/>
          </a:xfrm>
          <a:prstGeom prst="rect">
            <a:avLst/>
          </a:prstGeom>
          <a:solidFill>
            <a:srgbClr val="00E5FF">
              <a:alpha val="10000"/>
            </a:srgbClr>
          </a:solidFill>
          <a:ln/>
        </p:spPr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461FA60-E55C-EDAC-F29E-5F3FBC573D86}"/>
              </a:ext>
            </a:extLst>
          </p:cNvPr>
          <p:cNvGrpSpPr/>
          <p:nvPr/>
        </p:nvGrpSpPr>
        <p:grpSpPr>
          <a:xfrm>
            <a:off x="201168" y="804671"/>
            <a:ext cx="2816352" cy="4338829"/>
            <a:chOff x="201168" y="804671"/>
            <a:chExt cx="2816352" cy="4978061"/>
          </a:xfrm>
        </p:grpSpPr>
        <p:sp>
          <p:nvSpPr>
            <p:cNvPr id="6" name="Shape 4"/>
            <p:cNvSpPr/>
            <p:nvPr/>
          </p:nvSpPr>
          <p:spPr>
            <a:xfrm>
              <a:off x="201168" y="804671"/>
              <a:ext cx="2816352" cy="4978061"/>
            </a:xfrm>
            <a:prstGeom prst="rect">
              <a:avLst/>
            </a:prstGeom>
            <a:solidFill>
              <a:srgbClr val="061828"/>
            </a:solidFill>
            <a:ln w="25400">
              <a:solidFill>
                <a:srgbClr val="00FF87"/>
              </a:solidFill>
              <a:prstDash val="solid"/>
            </a:ln>
            <a:effectLst>
              <a:outerShdw blurRad="254000" dist="12700" dir="8100000" algn="bl" rotWithShape="0">
                <a:srgbClr val="00FF87">
                  <a:alpha val="70000"/>
                </a:srgbClr>
              </a:outerShdw>
            </a:effectLst>
          </p:spPr>
        </p:sp>
        <p:sp>
          <p:nvSpPr>
            <p:cNvPr id="7" name="Shape 5"/>
            <p:cNvSpPr/>
            <p:nvPr/>
          </p:nvSpPr>
          <p:spPr>
            <a:xfrm>
              <a:off x="201168" y="804672"/>
              <a:ext cx="2816352" cy="54864"/>
            </a:xfrm>
            <a:prstGeom prst="rect">
              <a:avLst/>
            </a:prstGeom>
            <a:solidFill>
              <a:srgbClr val="00FF87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292608" y="877824"/>
              <a:ext cx="1463040" cy="274320"/>
            </a:xfrm>
            <a:prstGeom prst="rect">
              <a:avLst/>
            </a:prstGeom>
            <a:solidFill>
              <a:srgbClr val="00FF87">
                <a:alpha val="22000"/>
              </a:srgbClr>
            </a:solidFill>
            <a:ln w="10160">
              <a:solidFill>
                <a:srgbClr val="00FF87"/>
              </a:solidFill>
              <a:prstDash val="solid"/>
            </a:ln>
            <a:effectLst>
              <a:outerShdw blurRad="1016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9" name="Text 7"/>
            <p:cNvSpPr/>
            <p:nvPr/>
          </p:nvSpPr>
          <p:spPr>
            <a:xfrm>
              <a:off x="292608" y="896112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FF87"/>
                  </a:solidFill>
                </a:rPr>
                <a:t>Best Value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92608" y="1207008"/>
              <a:ext cx="2606040" cy="329184"/>
            </a:xfrm>
            <a:prstGeom prst="rect">
              <a:avLst/>
            </a:prstGeom>
            <a:noFill/>
            <a:ln/>
            <a:effectLst>
              <a:outerShdw blurRad="50800" dist="12700" dir="8100000" algn="bl" rotWithShape="0">
                <a:srgbClr val="00FF87">
                  <a:alpha val="55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HC-SR04 Ultrasonic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2608" y="1536192"/>
              <a:ext cx="2606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40kHz · 2–400cm · PWM echo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395728" y="175564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00FF87"/>
                  </a:solidFill>
                </a:rPr>
                <a:t>9/10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92608" y="1956816"/>
              <a:ext cx="2606040" cy="91440"/>
            </a:xfrm>
            <a:prstGeom prst="rect">
              <a:avLst/>
            </a:prstGeom>
            <a:solidFill>
              <a:srgbClr val="0D3050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292608" y="1956816"/>
              <a:ext cx="2345436" cy="91440"/>
            </a:xfrm>
            <a:prstGeom prst="rect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5" name="Text 13"/>
            <p:cNvSpPr/>
            <p:nvPr/>
          </p:nvSpPr>
          <p:spPr>
            <a:xfrm>
              <a:off x="292608" y="212140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Range</a:t>
              </a:r>
              <a:endParaRPr lang="en-US" sz="9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481328" y="212140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E5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2–400 cm</a:t>
              </a:r>
              <a:endParaRPr lang="en-US" sz="9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92608" y="2340864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Accuracy</a:t>
              </a:r>
              <a:endParaRPr lang="en-US" sz="9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481328" y="2340864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+/- 3 mm</a:t>
              </a:r>
              <a:endParaRPr lang="en-US" sz="9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92608" y="2560320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Beam</a:t>
              </a:r>
              <a:endParaRPr lang="en-US" sz="9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481328" y="2560320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~15 deg</a:t>
              </a:r>
              <a:endParaRPr lang="en-US" sz="9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292608" y="2779776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Interface</a:t>
              </a:r>
              <a:endParaRPr lang="en-US" sz="9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481328" y="277977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GPIO trigger + echo</a:t>
              </a:r>
              <a:endParaRPr lang="en-US" sz="9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92608" y="2999232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Voltage</a:t>
              </a:r>
              <a:endParaRPr lang="en-US" sz="9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481328" y="2999232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5V (shift needed!)</a:t>
              </a:r>
              <a:endParaRPr lang="en-US" sz="9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92608" y="321868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</a:t>
              </a:r>
              <a:endParaRPr lang="en-US" sz="9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481328" y="321868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₹35–50 each</a:t>
              </a:r>
              <a:endParaRPr lang="en-US" sz="9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292608" y="3474720"/>
              <a:ext cx="2606040" cy="0"/>
            </a:xfrm>
            <a:prstGeom prst="line">
              <a:avLst/>
            </a:prstGeom>
            <a:noFill/>
            <a:ln w="6350">
              <a:solidFill>
                <a:srgbClr val="0D3050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292608" y="3511296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</a:t>
              </a:r>
              <a:endParaRPr lang="en-US" sz="9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292608" y="3758184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0" name="Text 28"/>
            <p:cNvSpPr/>
            <p:nvPr/>
          </p:nvSpPr>
          <p:spPr>
            <a:xfrm>
              <a:off x="292608" y="374904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512064" y="373075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Reliable in 28cm corridors</a:t>
              </a:r>
              <a:endParaRPr lang="en-US" sz="95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292608" y="4005072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3" name="Text 31"/>
            <p:cNvSpPr/>
            <p:nvPr/>
          </p:nvSpPr>
          <p:spPr>
            <a:xfrm>
              <a:off x="292608" y="399592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512064" y="397764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 sensors = full wall coverage</a:t>
              </a:r>
              <a:endParaRPr lang="en-US" sz="95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292608" y="4251960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6" name="Text 34"/>
            <p:cNvSpPr/>
            <p:nvPr/>
          </p:nvSpPr>
          <p:spPr>
            <a:xfrm>
              <a:off x="292608" y="424281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512064" y="422452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₹135 total — best value</a:t>
              </a:r>
              <a:endParaRPr lang="en-US" sz="95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292608" y="4498848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9" name="Text 37"/>
            <p:cNvSpPr/>
            <p:nvPr/>
          </p:nvSpPr>
          <p:spPr>
            <a:xfrm>
              <a:off x="292608" y="4489704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512064" y="4471416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Huge library + tutorial support</a:t>
              </a:r>
              <a:endParaRPr lang="en-US" sz="95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292608" y="4773168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</a:t>
              </a:r>
              <a:endParaRPr lang="en-US" sz="9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292608" y="5020056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43" name="Text 41"/>
            <p:cNvSpPr/>
            <p:nvPr/>
          </p:nvSpPr>
          <p:spPr>
            <a:xfrm>
              <a:off x="292608" y="5010912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512064" y="4992624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5V echo damages ESP32 without shifter</a:t>
              </a:r>
              <a:endParaRPr lang="en-US" sz="95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292608" y="5266944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46" name="Text 44"/>
            <p:cNvSpPr/>
            <p:nvPr/>
          </p:nvSpPr>
          <p:spPr>
            <a:xfrm>
              <a:off x="292608" y="525780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512064" y="523951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Cross-talk if fired simultaneously</a:t>
              </a:r>
              <a:endParaRPr lang="en-US" sz="95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292608" y="5513832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49" name="Text 47"/>
            <p:cNvSpPr/>
            <p:nvPr/>
          </p:nvSpPr>
          <p:spPr>
            <a:xfrm>
              <a:off x="292608" y="550468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512064" y="548640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 deg beam misses thin obstacles</a:t>
              </a:r>
              <a:endParaRPr lang="en-US" sz="950" dirty="0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DC24471-0FF4-0169-FFA6-F71F01412D9B}"/>
              </a:ext>
            </a:extLst>
          </p:cNvPr>
          <p:cNvGrpSpPr/>
          <p:nvPr/>
        </p:nvGrpSpPr>
        <p:grpSpPr>
          <a:xfrm>
            <a:off x="3172968" y="804672"/>
            <a:ext cx="2816352" cy="4338828"/>
            <a:chOff x="3172968" y="804672"/>
            <a:chExt cx="2816352" cy="4978060"/>
          </a:xfrm>
        </p:grpSpPr>
        <p:sp>
          <p:nvSpPr>
            <p:cNvPr id="51" name="Shape 49"/>
            <p:cNvSpPr/>
            <p:nvPr/>
          </p:nvSpPr>
          <p:spPr>
            <a:xfrm>
              <a:off x="3172968" y="804672"/>
              <a:ext cx="2816352" cy="4978060"/>
            </a:xfrm>
            <a:prstGeom prst="rect">
              <a:avLst/>
            </a:prstGeom>
            <a:solidFill>
              <a:srgbClr val="061828"/>
            </a:solidFill>
            <a:ln w="15240">
              <a:solidFill>
                <a:srgbClr val="FFB800"/>
              </a:solidFill>
              <a:prstDash val="solid"/>
            </a:ln>
            <a:effectLst>
              <a:outerShdw blurRad="152400" dist="12700" dir="8100000" algn="bl" rotWithShape="0">
                <a:srgbClr val="FFB800">
                  <a:alpha val="55000"/>
                </a:srgbClr>
              </a:outerShdw>
            </a:effectLst>
          </p:spPr>
        </p:sp>
        <p:sp>
          <p:nvSpPr>
            <p:cNvPr id="52" name="Shape 50"/>
            <p:cNvSpPr/>
            <p:nvPr/>
          </p:nvSpPr>
          <p:spPr>
            <a:xfrm>
              <a:off x="3264408" y="877824"/>
              <a:ext cx="1463040" cy="274320"/>
            </a:xfrm>
            <a:prstGeom prst="rect">
              <a:avLst/>
            </a:prstGeom>
            <a:solidFill>
              <a:srgbClr val="FFB800">
                <a:alpha val="22000"/>
              </a:srgbClr>
            </a:solidFill>
            <a:ln w="10160">
              <a:solidFill>
                <a:srgbClr val="FFB800"/>
              </a:solidFill>
              <a:prstDash val="solid"/>
            </a:ln>
            <a:effectLst>
              <a:outerShdw blurRad="101600" dist="12700" dir="8100000" algn="bl" rotWithShape="0">
                <a:srgbClr val="FFB800">
                  <a:alpha val="55000"/>
                </a:srgbClr>
              </a:outerShdw>
            </a:effectLst>
          </p:spPr>
        </p:sp>
        <p:sp>
          <p:nvSpPr>
            <p:cNvPr id="53" name="Text 51"/>
            <p:cNvSpPr/>
            <p:nvPr/>
          </p:nvSpPr>
          <p:spPr>
            <a:xfrm>
              <a:off x="3264408" y="896112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B800"/>
                  </a:solidFill>
                </a:rPr>
                <a:t>Medium Range</a:t>
              </a:r>
              <a:endParaRPr lang="en-US" sz="10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3264408" y="1207008"/>
              <a:ext cx="2606040" cy="329184"/>
            </a:xfrm>
            <a:prstGeom prst="rect">
              <a:avLst/>
            </a:prstGeom>
            <a:noFill/>
            <a:ln/>
            <a:effectLst>
              <a:outerShdw blurRad="50800" dist="12700" dir="8100000" algn="bl" rotWithShape="0">
                <a:srgbClr val="FFB800">
                  <a:alpha val="55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Sharp GP2Y0A21 IR</a:t>
              </a:r>
              <a:endParaRPr lang="en-US" sz="14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3264408" y="1536192"/>
              <a:ext cx="2606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Analog IR · 10–80cm · distance</a:t>
              </a:r>
              <a:endParaRPr lang="en-US" sz="9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5367528" y="175564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FFB800"/>
                  </a:solidFill>
                </a:rPr>
                <a:t>5/10</a:t>
              </a:r>
              <a:endParaRPr lang="en-US" sz="10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3264408" y="1956816"/>
              <a:ext cx="2606040" cy="91440"/>
            </a:xfrm>
            <a:prstGeom prst="rect">
              <a:avLst/>
            </a:prstGeom>
            <a:solidFill>
              <a:srgbClr val="0D3050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3264408" y="1956816"/>
              <a:ext cx="1303020" cy="91440"/>
            </a:xfrm>
            <a:prstGeom prst="rect">
              <a:avLst/>
            </a:prstGeom>
            <a:solidFill>
              <a:srgbClr val="FFB800"/>
            </a:solidFill>
            <a:ln/>
            <a:effectLst>
              <a:outerShdw blurRad="76200" dist="12700" dir="8100000" algn="bl" rotWithShape="0">
                <a:srgbClr val="FFB800">
                  <a:alpha val="55000"/>
                </a:srgbClr>
              </a:outerShdw>
            </a:effectLst>
          </p:spPr>
        </p:sp>
        <p:sp>
          <p:nvSpPr>
            <p:cNvPr id="59" name="Text 57"/>
            <p:cNvSpPr/>
            <p:nvPr/>
          </p:nvSpPr>
          <p:spPr>
            <a:xfrm>
              <a:off x="3264408" y="212140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Range</a:t>
              </a:r>
              <a:endParaRPr lang="en-US" sz="95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4453128" y="212140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E5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10–80 cm</a:t>
              </a:r>
              <a:endParaRPr lang="en-US" sz="95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3264408" y="2340864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Accuracy</a:t>
              </a:r>
              <a:endParaRPr lang="en-US" sz="95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4453128" y="2340864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+/- 5%</a:t>
              </a:r>
              <a:endParaRPr lang="en-US" sz="95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3264408" y="2560320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Output</a:t>
              </a:r>
              <a:endParaRPr lang="en-US" sz="95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4453128" y="2560320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Analog voltage</a:t>
              </a:r>
              <a:endParaRPr lang="en-US" sz="95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3264408" y="2779776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Interface</a:t>
              </a:r>
              <a:endParaRPr lang="en-US" sz="950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4453128" y="277977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Single ADC pin</a:t>
              </a:r>
              <a:endParaRPr lang="en-US" sz="95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3264408" y="2999232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Voltage</a:t>
              </a:r>
              <a:endParaRPr lang="en-US" sz="95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4453128" y="2999232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5V</a:t>
              </a:r>
              <a:endParaRPr lang="en-US" sz="950" dirty="0"/>
            </a:p>
          </p:txBody>
        </p:sp>
        <p:sp>
          <p:nvSpPr>
            <p:cNvPr id="69" name="Text 67"/>
            <p:cNvSpPr/>
            <p:nvPr/>
          </p:nvSpPr>
          <p:spPr>
            <a:xfrm>
              <a:off x="3264408" y="321868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</a:t>
              </a:r>
              <a:endParaRPr lang="en-US" sz="950" dirty="0"/>
            </a:p>
          </p:txBody>
        </p:sp>
        <p:sp>
          <p:nvSpPr>
            <p:cNvPr id="70" name="Text 68"/>
            <p:cNvSpPr/>
            <p:nvPr/>
          </p:nvSpPr>
          <p:spPr>
            <a:xfrm>
              <a:off x="4453128" y="321868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₹250–400 each</a:t>
              </a:r>
              <a:endParaRPr lang="en-US" sz="95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3264408" y="3474720"/>
              <a:ext cx="2606040" cy="0"/>
            </a:xfrm>
            <a:prstGeom prst="line">
              <a:avLst/>
            </a:prstGeom>
            <a:noFill/>
            <a:ln w="6350">
              <a:solidFill>
                <a:srgbClr val="0D3050"/>
              </a:solidFill>
              <a:prstDash val="solid"/>
            </a:ln>
          </p:spPr>
        </p:sp>
        <p:sp>
          <p:nvSpPr>
            <p:cNvPr id="72" name="Text 70"/>
            <p:cNvSpPr/>
            <p:nvPr/>
          </p:nvSpPr>
          <p:spPr>
            <a:xfrm>
              <a:off x="3264408" y="3511296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</a:t>
              </a:r>
              <a:endParaRPr lang="en-US" sz="900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3264408" y="3758184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74" name="Text 72"/>
            <p:cNvSpPr/>
            <p:nvPr/>
          </p:nvSpPr>
          <p:spPr>
            <a:xfrm>
              <a:off x="3264408" y="374904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3483864" y="373075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cross-talk between sensors</a:t>
              </a:r>
              <a:endParaRPr lang="en-US" sz="95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3264408" y="4005072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77" name="Text 75"/>
            <p:cNvSpPr/>
            <p:nvPr/>
          </p:nvSpPr>
          <p:spPr>
            <a:xfrm>
              <a:off x="3264408" y="399592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78" name="Text 76"/>
            <p:cNvSpPr/>
            <p:nvPr/>
          </p:nvSpPr>
          <p:spPr>
            <a:xfrm>
              <a:off x="3483864" y="397764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Instant response time</a:t>
              </a:r>
              <a:endParaRPr lang="en-US" sz="950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3264408" y="4251960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80" name="Text 78"/>
            <p:cNvSpPr/>
            <p:nvPr/>
          </p:nvSpPr>
          <p:spPr>
            <a:xfrm>
              <a:off x="3264408" y="424281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81" name="Text 79"/>
            <p:cNvSpPr/>
            <p:nvPr/>
          </p:nvSpPr>
          <p:spPr>
            <a:xfrm>
              <a:off x="3483864" y="422452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Single wire per sensor</a:t>
              </a:r>
              <a:endParaRPr lang="en-US" sz="950" dirty="0"/>
            </a:p>
          </p:txBody>
        </p:sp>
        <p:sp>
          <p:nvSpPr>
            <p:cNvPr id="82" name="Text 80"/>
            <p:cNvSpPr/>
            <p:nvPr/>
          </p:nvSpPr>
          <p:spPr>
            <a:xfrm>
              <a:off x="3264408" y="452628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</a:t>
              </a:r>
              <a:endParaRPr lang="en-US" sz="900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3264408" y="4773168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84" name="Text 82"/>
            <p:cNvSpPr/>
            <p:nvPr/>
          </p:nvSpPr>
          <p:spPr>
            <a:xfrm>
              <a:off x="3264408" y="4764024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85" name="Text 83"/>
            <p:cNvSpPr/>
            <p:nvPr/>
          </p:nvSpPr>
          <p:spPr>
            <a:xfrm>
              <a:off x="3483864" y="4745736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Expensive — ₹750 for 3 sensors</a:t>
              </a:r>
              <a:endParaRPr lang="en-US" sz="950" dirty="0"/>
            </a:p>
          </p:txBody>
        </p:sp>
        <p:sp>
          <p:nvSpPr>
            <p:cNvPr id="86" name="Shape 84"/>
            <p:cNvSpPr/>
            <p:nvPr/>
          </p:nvSpPr>
          <p:spPr>
            <a:xfrm>
              <a:off x="3264408" y="5020056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87" name="Text 85"/>
            <p:cNvSpPr/>
            <p:nvPr/>
          </p:nvSpPr>
          <p:spPr>
            <a:xfrm>
              <a:off x="3264408" y="5010912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88" name="Text 86"/>
            <p:cNvSpPr/>
            <p:nvPr/>
          </p:nvSpPr>
          <p:spPr>
            <a:xfrm>
              <a:off x="3483864" y="4992624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10cm minimum = blind spot close</a:t>
              </a:r>
              <a:endParaRPr lang="en-US" sz="950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3264408" y="5266944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90" name="Text 88"/>
            <p:cNvSpPr/>
            <p:nvPr/>
          </p:nvSpPr>
          <p:spPr>
            <a:xfrm>
              <a:off x="3264408" y="525780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91" name="Text 89"/>
            <p:cNvSpPr/>
            <p:nvPr/>
          </p:nvSpPr>
          <p:spPr>
            <a:xfrm>
              <a:off x="3483864" y="523951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Non-linear output needs calibration</a:t>
              </a:r>
              <a:endParaRPr lang="en-US" sz="950" dirty="0"/>
            </a:p>
          </p:txBody>
        </p:sp>
        <p:sp>
          <p:nvSpPr>
            <p:cNvPr id="92" name="Shape 90"/>
            <p:cNvSpPr/>
            <p:nvPr/>
          </p:nvSpPr>
          <p:spPr>
            <a:xfrm>
              <a:off x="3264408" y="5513832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93" name="Text 91"/>
            <p:cNvSpPr/>
            <p:nvPr/>
          </p:nvSpPr>
          <p:spPr>
            <a:xfrm>
              <a:off x="3264408" y="550468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94" name="Text 92"/>
            <p:cNvSpPr/>
            <p:nvPr/>
          </p:nvSpPr>
          <p:spPr>
            <a:xfrm>
              <a:off x="3483864" y="548640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Ambient IR causes false readings</a:t>
              </a:r>
              <a:endParaRPr lang="en-US" sz="950" dirty="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30F385C-0343-A0B9-6A1E-C19AF6E38EAD}"/>
              </a:ext>
            </a:extLst>
          </p:cNvPr>
          <p:cNvGrpSpPr/>
          <p:nvPr/>
        </p:nvGrpSpPr>
        <p:grpSpPr>
          <a:xfrm>
            <a:off x="6144768" y="804672"/>
            <a:ext cx="2816352" cy="4338828"/>
            <a:chOff x="6144768" y="804672"/>
            <a:chExt cx="2816352" cy="4901184"/>
          </a:xfrm>
        </p:grpSpPr>
        <p:sp>
          <p:nvSpPr>
            <p:cNvPr id="95" name="Shape 93"/>
            <p:cNvSpPr/>
            <p:nvPr/>
          </p:nvSpPr>
          <p:spPr>
            <a:xfrm>
              <a:off x="6144768" y="804672"/>
              <a:ext cx="2816352" cy="4901184"/>
            </a:xfrm>
            <a:prstGeom prst="rect">
              <a:avLst/>
            </a:prstGeom>
            <a:solidFill>
              <a:srgbClr val="061828"/>
            </a:solidFill>
            <a:ln w="15240">
              <a:solidFill>
                <a:srgbClr val="00E5FF"/>
              </a:solidFill>
              <a:prstDash val="solid"/>
            </a:ln>
            <a:effectLst>
              <a:outerShdw blurRad="152400" dist="12700" dir="8100000" algn="bl" rotWithShape="0">
                <a:srgbClr val="00E5FF">
                  <a:alpha val="55000"/>
                </a:srgbClr>
              </a:outerShdw>
            </a:effectLst>
          </p:spPr>
        </p:sp>
        <p:sp>
          <p:nvSpPr>
            <p:cNvPr id="96" name="Shape 94"/>
            <p:cNvSpPr/>
            <p:nvPr/>
          </p:nvSpPr>
          <p:spPr>
            <a:xfrm>
              <a:off x="6236208" y="877824"/>
              <a:ext cx="1463040" cy="274320"/>
            </a:xfrm>
            <a:prstGeom prst="rect">
              <a:avLst/>
            </a:prstGeom>
            <a:solidFill>
              <a:srgbClr val="00E5FF">
                <a:alpha val="22000"/>
              </a:srgbClr>
            </a:solidFill>
            <a:ln w="10160">
              <a:solidFill>
                <a:srgbClr val="00E5FF"/>
              </a:solidFill>
              <a:prstDash val="solid"/>
            </a:ln>
            <a:effectLst>
              <a:outerShdw blurRad="101600" dist="12700" dir="8100000" algn="bl" rotWithShape="0">
                <a:srgbClr val="00E5FF">
                  <a:alpha val="55000"/>
                </a:srgbClr>
              </a:outerShdw>
            </a:effectLst>
          </p:spPr>
        </p:sp>
        <p:sp>
          <p:nvSpPr>
            <p:cNvPr id="97" name="Text 95"/>
            <p:cNvSpPr/>
            <p:nvPr/>
          </p:nvSpPr>
          <p:spPr>
            <a:xfrm>
              <a:off x="6236208" y="896112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E5FF"/>
                  </a:solidFill>
                </a:rPr>
                <a:t>Advanced Option</a:t>
              </a:r>
              <a:endParaRPr lang="en-US" sz="1000" dirty="0"/>
            </a:p>
          </p:txBody>
        </p:sp>
        <p:sp>
          <p:nvSpPr>
            <p:cNvPr id="98" name="Text 96"/>
            <p:cNvSpPr/>
            <p:nvPr/>
          </p:nvSpPr>
          <p:spPr>
            <a:xfrm>
              <a:off x="6236208" y="1207008"/>
              <a:ext cx="2606040" cy="329184"/>
            </a:xfrm>
            <a:prstGeom prst="rect">
              <a:avLst/>
            </a:prstGeom>
            <a:noFill/>
            <a:ln/>
            <a:effectLst>
              <a:outerShdw blurRad="50800" dist="12700" dir="8100000" algn="bl" rotWithShape="0">
                <a:srgbClr val="00E5FF">
                  <a:alpha val="55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VL53L0X ToF Laser</a:t>
              </a:r>
              <a:endParaRPr lang="en-US" sz="1400" dirty="0"/>
            </a:p>
          </p:txBody>
        </p:sp>
        <p:sp>
          <p:nvSpPr>
            <p:cNvPr id="99" name="Text 97"/>
            <p:cNvSpPr/>
            <p:nvPr/>
          </p:nvSpPr>
          <p:spPr>
            <a:xfrm>
              <a:off x="6236208" y="1536192"/>
              <a:ext cx="2606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I2C · 50mm–1.2m · time-of-flight</a:t>
              </a:r>
              <a:endParaRPr lang="en-US" sz="900" dirty="0"/>
            </a:p>
          </p:txBody>
        </p:sp>
        <p:sp>
          <p:nvSpPr>
            <p:cNvPr id="100" name="Text 98"/>
            <p:cNvSpPr/>
            <p:nvPr/>
          </p:nvSpPr>
          <p:spPr>
            <a:xfrm>
              <a:off x="8339328" y="175564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00E5FF"/>
                  </a:solidFill>
                </a:rPr>
                <a:t>7/10</a:t>
              </a:r>
              <a:endParaRPr lang="en-US" sz="1000" dirty="0"/>
            </a:p>
          </p:txBody>
        </p:sp>
        <p:sp>
          <p:nvSpPr>
            <p:cNvPr id="101" name="Shape 99"/>
            <p:cNvSpPr/>
            <p:nvPr/>
          </p:nvSpPr>
          <p:spPr>
            <a:xfrm>
              <a:off x="6236208" y="1956816"/>
              <a:ext cx="2606040" cy="91440"/>
            </a:xfrm>
            <a:prstGeom prst="rect">
              <a:avLst/>
            </a:prstGeom>
            <a:solidFill>
              <a:srgbClr val="0D3050"/>
            </a:solidFill>
            <a:ln/>
          </p:spPr>
        </p:sp>
        <p:sp>
          <p:nvSpPr>
            <p:cNvPr id="102" name="Shape 100"/>
            <p:cNvSpPr/>
            <p:nvPr/>
          </p:nvSpPr>
          <p:spPr>
            <a:xfrm>
              <a:off x="6236208" y="1956816"/>
              <a:ext cx="1824228" cy="91440"/>
            </a:xfrm>
            <a:prstGeom prst="rect">
              <a:avLst/>
            </a:prstGeom>
            <a:solidFill>
              <a:srgbClr val="00E5FF"/>
            </a:solidFill>
            <a:ln/>
            <a:effectLst>
              <a:outerShdw blurRad="76200" dist="12700" dir="8100000" algn="bl" rotWithShape="0">
                <a:srgbClr val="00E5FF">
                  <a:alpha val="55000"/>
                </a:srgbClr>
              </a:outerShdw>
            </a:effectLst>
          </p:spPr>
        </p:sp>
        <p:sp>
          <p:nvSpPr>
            <p:cNvPr id="103" name="Text 101"/>
            <p:cNvSpPr/>
            <p:nvPr/>
          </p:nvSpPr>
          <p:spPr>
            <a:xfrm>
              <a:off x="6236208" y="212140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Range</a:t>
              </a:r>
              <a:endParaRPr lang="en-US" sz="950" dirty="0"/>
            </a:p>
          </p:txBody>
        </p:sp>
        <p:sp>
          <p:nvSpPr>
            <p:cNvPr id="104" name="Text 102"/>
            <p:cNvSpPr/>
            <p:nvPr/>
          </p:nvSpPr>
          <p:spPr>
            <a:xfrm>
              <a:off x="7424928" y="212140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E5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50mm–1.2m</a:t>
              </a:r>
              <a:endParaRPr lang="en-US" sz="950" dirty="0"/>
            </a:p>
          </p:txBody>
        </p:sp>
        <p:sp>
          <p:nvSpPr>
            <p:cNvPr id="105" name="Text 103"/>
            <p:cNvSpPr/>
            <p:nvPr/>
          </p:nvSpPr>
          <p:spPr>
            <a:xfrm>
              <a:off x="6236208" y="2340864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Accuracy</a:t>
              </a:r>
              <a:endParaRPr lang="en-US" sz="950" dirty="0"/>
            </a:p>
          </p:txBody>
        </p:sp>
        <p:sp>
          <p:nvSpPr>
            <p:cNvPr id="106" name="Text 104"/>
            <p:cNvSpPr/>
            <p:nvPr/>
          </p:nvSpPr>
          <p:spPr>
            <a:xfrm>
              <a:off x="7424928" y="2340864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+/- 3%</a:t>
              </a:r>
              <a:endParaRPr lang="en-US" sz="950" dirty="0"/>
            </a:p>
          </p:txBody>
        </p:sp>
        <p:sp>
          <p:nvSpPr>
            <p:cNvPr id="107" name="Text 105"/>
            <p:cNvSpPr/>
            <p:nvPr/>
          </p:nvSpPr>
          <p:spPr>
            <a:xfrm>
              <a:off x="6236208" y="2560320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Interface</a:t>
              </a:r>
              <a:endParaRPr lang="en-US" sz="950" dirty="0"/>
            </a:p>
          </p:txBody>
        </p:sp>
        <p:sp>
          <p:nvSpPr>
            <p:cNvPr id="108" name="Text 106"/>
            <p:cNvSpPr/>
            <p:nvPr/>
          </p:nvSpPr>
          <p:spPr>
            <a:xfrm>
              <a:off x="7424928" y="2560320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I2C</a:t>
              </a:r>
              <a:endParaRPr lang="en-US" sz="950" dirty="0"/>
            </a:p>
          </p:txBody>
        </p:sp>
        <p:sp>
          <p:nvSpPr>
            <p:cNvPr id="109" name="Text 107"/>
            <p:cNvSpPr/>
            <p:nvPr/>
          </p:nvSpPr>
          <p:spPr>
            <a:xfrm>
              <a:off x="6236208" y="2779776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Beam</a:t>
              </a:r>
              <a:endParaRPr lang="en-US" sz="950" dirty="0"/>
            </a:p>
          </p:txBody>
        </p:sp>
        <p:sp>
          <p:nvSpPr>
            <p:cNvPr id="110" name="Text 108"/>
            <p:cNvSpPr/>
            <p:nvPr/>
          </p:nvSpPr>
          <p:spPr>
            <a:xfrm>
              <a:off x="7424928" y="277977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Narrow laser</a:t>
              </a:r>
              <a:endParaRPr lang="en-US" sz="950" dirty="0"/>
            </a:p>
          </p:txBody>
        </p:sp>
        <p:sp>
          <p:nvSpPr>
            <p:cNvPr id="111" name="Text 109"/>
            <p:cNvSpPr/>
            <p:nvPr/>
          </p:nvSpPr>
          <p:spPr>
            <a:xfrm>
              <a:off x="6236208" y="2999232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Voltage</a:t>
              </a:r>
              <a:endParaRPr lang="en-US" sz="950" dirty="0"/>
            </a:p>
          </p:txBody>
        </p:sp>
        <p:sp>
          <p:nvSpPr>
            <p:cNvPr id="112" name="Text 110"/>
            <p:cNvSpPr/>
            <p:nvPr/>
          </p:nvSpPr>
          <p:spPr>
            <a:xfrm>
              <a:off x="7424928" y="2999232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3.3V native</a:t>
              </a:r>
              <a:endParaRPr lang="en-US" sz="950" dirty="0"/>
            </a:p>
          </p:txBody>
        </p:sp>
        <p:sp>
          <p:nvSpPr>
            <p:cNvPr id="113" name="Text 111"/>
            <p:cNvSpPr/>
            <p:nvPr/>
          </p:nvSpPr>
          <p:spPr>
            <a:xfrm>
              <a:off x="6236208" y="321868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</a:t>
              </a:r>
              <a:endParaRPr lang="en-US" sz="950" dirty="0"/>
            </a:p>
          </p:txBody>
        </p:sp>
        <p:sp>
          <p:nvSpPr>
            <p:cNvPr id="114" name="Text 112"/>
            <p:cNvSpPr/>
            <p:nvPr/>
          </p:nvSpPr>
          <p:spPr>
            <a:xfrm>
              <a:off x="7424928" y="321868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₹200–350 each</a:t>
              </a:r>
              <a:endParaRPr lang="en-US" sz="950" dirty="0"/>
            </a:p>
          </p:txBody>
        </p:sp>
        <p:sp>
          <p:nvSpPr>
            <p:cNvPr id="115" name="Shape 113"/>
            <p:cNvSpPr/>
            <p:nvPr/>
          </p:nvSpPr>
          <p:spPr>
            <a:xfrm>
              <a:off x="6236208" y="3474720"/>
              <a:ext cx="2606040" cy="0"/>
            </a:xfrm>
            <a:prstGeom prst="line">
              <a:avLst/>
            </a:prstGeom>
            <a:noFill/>
            <a:ln w="6350">
              <a:solidFill>
                <a:srgbClr val="0D3050"/>
              </a:solidFill>
              <a:prstDash val="solid"/>
            </a:ln>
          </p:spPr>
        </p:sp>
        <p:sp>
          <p:nvSpPr>
            <p:cNvPr id="116" name="Text 114"/>
            <p:cNvSpPr/>
            <p:nvPr/>
          </p:nvSpPr>
          <p:spPr>
            <a:xfrm>
              <a:off x="6236208" y="3511296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</a:t>
              </a:r>
              <a:endParaRPr lang="en-US" sz="900" dirty="0"/>
            </a:p>
          </p:txBody>
        </p:sp>
        <p:sp>
          <p:nvSpPr>
            <p:cNvPr id="117" name="Shape 115"/>
            <p:cNvSpPr/>
            <p:nvPr/>
          </p:nvSpPr>
          <p:spPr>
            <a:xfrm>
              <a:off x="6236208" y="3758184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18" name="Text 116"/>
            <p:cNvSpPr/>
            <p:nvPr/>
          </p:nvSpPr>
          <p:spPr>
            <a:xfrm>
              <a:off x="6236208" y="374904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119" name="Text 117"/>
            <p:cNvSpPr/>
            <p:nvPr/>
          </p:nvSpPr>
          <p:spPr>
            <a:xfrm>
              <a:off x="6455664" y="373075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Very narrow beam — precise</a:t>
              </a:r>
              <a:endParaRPr lang="en-US" sz="950" dirty="0"/>
            </a:p>
          </p:txBody>
        </p:sp>
        <p:sp>
          <p:nvSpPr>
            <p:cNvPr id="120" name="Shape 118"/>
            <p:cNvSpPr/>
            <p:nvPr/>
          </p:nvSpPr>
          <p:spPr>
            <a:xfrm>
              <a:off x="6236208" y="4005072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21" name="Text 119"/>
            <p:cNvSpPr/>
            <p:nvPr/>
          </p:nvSpPr>
          <p:spPr>
            <a:xfrm>
              <a:off x="6236208" y="399592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122" name="Text 120"/>
            <p:cNvSpPr/>
            <p:nvPr/>
          </p:nvSpPr>
          <p:spPr>
            <a:xfrm>
              <a:off x="6455664" y="397764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I2C saves GPIO pins</a:t>
              </a:r>
              <a:endParaRPr lang="en-US" sz="950" dirty="0"/>
            </a:p>
          </p:txBody>
        </p:sp>
        <p:sp>
          <p:nvSpPr>
            <p:cNvPr id="123" name="Shape 121"/>
            <p:cNvSpPr/>
            <p:nvPr/>
          </p:nvSpPr>
          <p:spPr>
            <a:xfrm>
              <a:off x="6236208" y="4251960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24" name="Text 122"/>
            <p:cNvSpPr/>
            <p:nvPr/>
          </p:nvSpPr>
          <p:spPr>
            <a:xfrm>
              <a:off x="6236208" y="424281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125" name="Text 123"/>
            <p:cNvSpPr/>
            <p:nvPr/>
          </p:nvSpPr>
          <p:spPr>
            <a:xfrm>
              <a:off x="6455664" y="422452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3.3V — no level shifter needed</a:t>
              </a:r>
              <a:endParaRPr lang="en-US" sz="950" dirty="0"/>
            </a:p>
          </p:txBody>
        </p:sp>
        <p:sp>
          <p:nvSpPr>
            <p:cNvPr id="126" name="Text 124"/>
            <p:cNvSpPr/>
            <p:nvPr/>
          </p:nvSpPr>
          <p:spPr>
            <a:xfrm>
              <a:off x="6236208" y="452628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</a:t>
              </a:r>
              <a:endParaRPr lang="en-US" sz="900" dirty="0"/>
            </a:p>
          </p:txBody>
        </p:sp>
        <p:sp>
          <p:nvSpPr>
            <p:cNvPr id="127" name="Shape 125"/>
            <p:cNvSpPr/>
            <p:nvPr/>
          </p:nvSpPr>
          <p:spPr>
            <a:xfrm>
              <a:off x="6236208" y="4773168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28" name="Text 126"/>
            <p:cNvSpPr/>
            <p:nvPr/>
          </p:nvSpPr>
          <p:spPr>
            <a:xfrm>
              <a:off x="6236208" y="4764024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29" name="Text 127"/>
            <p:cNvSpPr/>
            <p:nvPr/>
          </p:nvSpPr>
          <p:spPr>
            <a:xfrm>
              <a:off x="6455664" y="4745736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50mm min = close-up blind spot</a:t>
              </a:r>
              <a:endParaRPr lang="en-US" sz="950" dirty="0"/>
            </a:p>
          </p:txBody>
        </p:sp>
        <p:sp>
          <p:nvSpPr>
            <p:cNvPr id="130" name="Shape 128"/>
            <p:cNvSpPr/>
            <p:nvPr/>
          </p:nvSpPr>
          <p:spPr>
            <a:xfrm>
              <a:off x="6236208" y="5020056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31" name="Text 129"/>
            <p:cNvSpPr/>
            <p:nvPr/>
          </p:nvSpPr>
          <p:spPr>
            <a:xfrm>
              <a:off x="6236208" y="5010912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32" name="Text 130"/>
            <p:cNvSpPr/>
            <p:nvPr/>
          </p:nvSpPr>
          <p:spPr>
            <a:xfrm>
              <a:off x="6455664" y="4992624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Black surfaces confuse readings</a:t>
              </a:r>
              <a:endParaRPr lang="en-US" sz="950" dirty="0"/>
            </a:p>
          </p:txBody>
        </p:sp>
        <p:sp>
          <p:nvSpPr>
            <p:cNvPr id="133" name="Shape 131"/>
            <p:cNvSpPr/>
            <p:nvPr/>
          </p:nvSpPr>
          <p:spPr>
            <a:xfrm>
              <a:off x="6236208" y="5266944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34" name="Text 132"/>
            <p:cNvSpPr/>
            <p:nvPr/>
          </p:nvSpPr>
          <p:spPr>
            <a:xfrm>
              <a:off x="6236208" y="525780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35" name="Text 133"/>
            <p:cNvSpPr/>
            <p:nvPr/>
          </p:nvSpPr>
          <p:spPr>
            <a:xfrm>
              <a:off x="6455664" y="523951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I2C address change for multiple</a:t>
              </a:r>
              <a:endParaRPr lang="en-US" sz="950" dirty="0"/>
            </a:p>
          </p:txBody>
        </p:sp>
        <p:sp>
          <p:nvSpPr>
            <p:cNvPr id="136" name="Shape 134"/>
            <p:cNvSpPr/>
            <p:nvPr/>
          </p:nvSpPr>
          <p:spPr>
            <a:xfrm>
              <a:off x="6236208" y="5513832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37" name="Text 135"/>
            <p:cNvSpPr/>
            <p:nvPr/>
          </p:nvSpPr>
          <p:spPr>
            <a:xfrm>
              <a:off x="6236208" y="550468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38" name="Text 136"/>
            <p:cNvSpPr/>
            <p:nvPr/>
          </p:nvSpPr>
          <p:spPr>
            <a:xfrm>
              <a:off x="6455664" y="548640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Silver tiles may cause errors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0081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66928"/>
          </a:xfrm>
          <a:prstGeom prst="rect">
            <a:avLst/>
          </a:prstGeom>
          <a:noFill/>
          <a:ln/>
          <a:effectLst>
            <a:outerShdw blurRad="254000" dist="12700" dir="8100000" algn="bl" rotWithShape="0">
              <a:srgbClr val="00E5FF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SENSOR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7512"/>
            <a:ext cx="9144000" cy="109728"/>
          </a:xfrm>
          <a:prstGeom prst="rect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804672"/>
            <a:ext cx="2816352" cy="4338828"/>
          </a:xfrm>
          <a:prstGeom prst="rect">
            <a:avLst/>
          </a:prstGeom>
          <a:solidFill>
            <a:srgbClr val="061828"/>
          </a:solidFill>
          <a:ln w="25400">
            <a:solidFill>
              <a:srgbClr val="00FF87"/>
            </a:solidFill>
            <a:prstDash val="solid"/>
          </a:ln>
          <a:effectLst>
            <a:outerShdw blurRad="254000" dist="12700" dir="8100000" algn="bl" rotWithShape="0">
              <a:srgbClr val="00FF87">
                <a:alpha val="7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04672"/>
            <a:ext cx="2816352" cy="54864"/>
          </a:xfrm>
          <a:prstGeom prst="rect">
            <a:avLst/>
          </a:prstGeom>
          <a:solidFill>
            <a:srgbClr val="00FF87"/>
          </a:solidFill>
          <a:ln/>
        </p:spPr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D7E7EF8-772E-A303-EDDE-41E39175494A}"/>
              </a:ext>
            </a:extLst>
          </p:cNvPr>
          <p:cNvGrpSpPr/>
          <p:nvPr/>
        </p:nvGrpSpPr>
        <p:grpSpPr>
          <a:xfrm>
            <a:off x="292608" y="877824"/>
            <a:ext cx="2651760" cy="4192524"/>
            <a:chOff x="292608" y="877824"/>
            <a:chExt cx="2651760" cy="4828032"/>
          </a:xfrm>
        </p:grpSpPr>
        <p:sp>
          <p:nvSpPr>
            <p:cNvPr id="8" name="Shape 6"/>
            <p:cNvSpPr/>
            <p:nvPr/>
          </p:nvSpPr>
          <p:spPr>
            <a:xfrm>
              <a:off x="292608" y="877824"/>
              <a:ext cx="1463040" cy="274320"/>
            </a:xfrm>
            <a:prstGeom prst="rect">
              <a:avLst/>
            </a:prstGeom>
            <a:solidFill>
              <a:srgbClr val="00FF87">
                <a:alpha val="22000"/>
              </a:srgbClr>
            </a:solidFill>
            <a:ln w="10160">
              <a:solidFill>
                <a:srgbClr val="00FF87"/>
              </a:solidFill>
              <a:prstDash val="solid"/>
            </a:ln>
            <a:effectLst>
              <a:outerShdw blurRad="1016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9" name="Text 7"/>
            <p:cNvSpPr/>
            <p:nvPr/>
          </p:nvSpPr>
          <p:spPr>
            <a:xfrm>
              <a:off x="292608" y="896112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FF87"/>
                  </a:solidFill>
                </a:rPr>
                <a:t>Best Choice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92608" y="1207008"/>
              <a:ext cx="2606040" cy="329184"/>
            </a:xfrm>
            <a:prstGeom prst="rect">
              <a:avLst/>
            </a:prstGeom>
            <a:noFill/>
            <a:ln/>
            <a:effectLst>
              <a:outerShdw blurRad="50800" dist="12700" dir="8100000" algn="bl" rotWithShape="0">
                <a:srgbClr val="00FF87">
                  <a:alpha val="55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TCS34725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2608" y="1536192"/>
              <a:ext cx="2606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AMS · I2C · RGBC · IR filter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395728" y="175564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00FF87"/>
                  </a:solidFill>
                </a:rPr>
                <a:t>10/10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92608" y="1956816"/>
              <a:ext cx="2606040" cy="91440"/>
            </a:xfrm>
            <a:prstGeom prst="rect">
              <a:avLst/>
            </a:prstGeom>
            <a:solidFill>
              <a:srgbClr val="0D3050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292608" y="1956816"/>
              <a:ext cx="2606040" cy="91440"/>
            </a:xfrm>
            <a:prstGeom prst="rect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5" name="Text 13"/>
            <p:cNvSpPr/>
            <p:nvPr/>
          </p:nvSpPr>
          <p:spPr>
            <a:xfrm>
              <a:off x="292608" y="212140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Interface</a:t>
              </a:r>
              <a:endParaRPr lang="en-US" sz="9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481328" y="212140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E5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I2C (SDA/SCL)</a:t>
              </a:r>
              <a:endParaRPr lang="en-US" sz="9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92608" y="2340864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IR Filter</a:t>
              </a:r>
              <a:endParaRPr lang="en-US" sz="9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481328" y="2340864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Built-in</a:t>
              </a:r>
              <a:endParaRPr lang="en-US" sz="9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92608" y="2560320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Clear channel</a:t>
              </a:r>
              <a:endParaRPr lang="en-US" sz="9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481328" y="2560320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Yes (brightness)</a:t>
              </a:r>
              <a:endParaRPr lang="en-US" sz="9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292608" y="2779776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Gain</a:t>
              </a:r>
              <a:endParaRPr lang="en-US" sz="9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481328" y="277977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1x to 60x</a:t>
              </a:r>
              <a:endParaRPr lang="en-US" sz="9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92608" y="2999232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LED</a:t>
              </a:r>
              <a:endParaRPr lang="en-US" sz="9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481328" y="2999232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White onboard</a:t>
              </a:r>
              <a:endParaRPr lang="en-US" sz="9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92608" y="321868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</a:t>
              </a:r>
              <a:endParaRPr lang="en-US" sz="9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481328" y="321868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₹120–200</a:t>
              </a:r>
              <a:endParaRPr lang="en-US" sz="9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292608" y="3474720"/>
              <a:ext cx="2606040" cy="0"/>
            </a:xfrm>
            <a:prstGeom prst="line">
              <a:avLst/>
            </a:prstGeom>
            <a:noFill/>
            <a:ln w="6350">
              <a:solidFill>
                <a:srgbClr val="0D3050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292608" y="3511296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</a:t>
              </a:r>
              <a:endParaRPr lang="en-US" sz="9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292608" y="3758184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0" name="Text 28"/>
            <p:cNvSpPr/>
            <p:nvPr/>
          </p:nvSpPr>
          <p:spPr>
            <a:xfrm>
              <a:off x="292608" y="374904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512064" y="373075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IR filter = stable under any light</a:t>
              </a:r>
              <a:endParaRPr lang="en-US" sz="95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292608" y="4005072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3" name="Text 31"/>
            <p:cNvSpPr/>
            <p:nvPr/>
          </p:nvSpPr>
          <p:spPr>
            <a:xfrm>
              <a:off x="292608" y="399592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512064" y="397764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Clear channel separates brightness</a:t>
              </a:r>
              <a:endParaRPr lang="en-US" sz="95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292608" y="4251960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6" name="Text 34"/>
            <p:cNvSpPr/>
            <p:nvPr/>
          </p:nvSpPr>
          <p:spPr>
            <a:xfrm>
              <a:off x="292608" y="424281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512064" y="422452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ONLY sensor that detects SILVER</a:t>
              </a:r>
              <a:endParaRPr lang="en-US" sz="95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292608" y="4498848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39" name="Text 37"/>
            <p:cNvSpPr/>
            <p:nvPr/>
          </p:nvSpPr>
          <p:spPr>
            <a:xfrm>
              <a:off x="292608" y="4489704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512064" y="4471416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60x gain for dim rooms</a:t>
              </a:r>
              <a:endParaRPr lang="en-US" sz="95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292608" y="4745736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42" name="Text 40"/>
            <p:cNvSpPr/>
            <p:nvPr/>
          </p:nvSpPr>
          <p:spPr>
            <a:xfrm>
              <a:off x="292608" y="4736592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512064" y="4718304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I2C saves GPIO pins</a:t>
              </a:r>
              <a:endParaRPr lang="en-US" sz="95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292608" y="5020056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</a:t>
              </a:r>
              <a:endParaRPr lang="en-US" sz="9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292608" y="5266944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46" name="Text 44"/>
            <p:cNvSpPr/>
            <p:nvPr/>
          </p:nvSpPr>
          <p:spPr>
            <a:xfrm>
              <a:off x="292608" y="525780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512064" y="523951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Mount at 6–10mm precisely</a:t>
              </a:r>
              <a:endParaRPr lang="en-US" sz="95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292608" y="5513832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49" name="Text 47"/>
            <p:cNvSpPr/>
            <p:nvPr/>
          </p:nvSpPr>
          <p:spPr>
            <a:xfrm>
              <a:off x="292608" y="550468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512064" y="548640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Slightly pricier than TCS3200</a:t>
              </a:r>
              <a:endParaRPr lang="en-US" sz="950" dirty="0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2577C1CA-D281-A328-3A32-3BFE9F92D1B1}"/>
              </a:ext>
            </a:extLst>
          </p:cNvPr>
          <p:cNvGrpSpPr/>
          <p:nvPr/>
        </p:nvGrpSpPr>
        <p:grpSpPr>
          <a:xfrm>
            <a:off x="3154680" y="831765"/>
            <a:ext cx="2816352" cy="4311735"/>
            <a:chOff x="3154680" y="831765"/>
            <a:chExt cx="2816352" cy="4901184"/>
          </a:xfrm>
        </p:grpSpPr>
        <p:sp>
          <p:nvSpPr>
            <p:cNvPr id="51" name="Shape 49"/>
            <p:cNvSpPr/>
            <p:nvPr/>
          </p:nvSpPr>
          <p:spPr>
            <a:xfrm>
              <a:off x="3154680" y="831765"/>
              <a:ext cx="2816352" cy="4901184"/>
            </a:xfrm>
            <a:prstGeom prst="rect">
              <a:avLst/>
            </a:prstGeom>
            <a:solidFill>
              <a:srgbClr val="061828"/>
            </a:solidFill>
            <a:ln w="15240">
              <a:solidFill>
                <a:srgbClr val="FFB800"/>
              </a:solidFill>
              <a:prstDash val="solid"/>
            </a:ln>
            <a:effectLst>
              <a:outerShdw blurRad="152400" dist="12700" dir="8100000" algn="bl" rotWithShape="0">
                <a:srgbClr val="FFB800">
                  <a:alpha val="55000"/>
                </a:srgbClr>
              </a:outerShdw>
            </a:effectLst>
          </p:spPr>
        </p:sp>
        <p:sp>
          <p:nvSpPr>
            <p:cNvPr id="52" name="Shape 50"/>
            <p:cNvSpPr/>
            <p:nvPr/>
          </p:nvSpPr>
          <p:spPr>
            <a:xfrm>
              <a:off x="3264408" y="877824"/>
              <a:ext cx="1463040" cy="274320"/>
            </a:xfrm>
            <a:prstGeom prst="rect">
              <a:avLst/>
            </a:prstGeom>
            <a:solidFill>
              <a:srgbClr val="FFB800">
                <a:alpha val="22000"/>
              </a:srgbClr>
            </a:solidFill>
            <a:ln w="10160">
              <a:solidFill>
                <a:srgbClr val="FFB800"/>
              </a:solidFill>
              <a:prstDash val="solid"/>
            </a:ln>
            <a:effectLst>
              <a:outerShdw blurRad="101600" dist="12700" dir="8100000" algn="bl" rotWithShape="0">
                <a:srgbClr val="FFB800">
                  <a:alpha val="55000"/>
                </a:srgbClr>
              </a:outerShdw>
            </a:effectLst>
          </p:spPr>
        </p:sp>
        <p:sp>
          <p:nvSpPr>
            <p:cNvPr id="53" name="Text 51"/>
            <p:cNvSpPr/>
            <p:nvPr/>
          </p:nvSpPr>
          <p:spPr>
            <a:xfrm>
              <a:off x="3264408" y="896112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B800"/>
                  </a:solidFill>
                </a:rPr>
                <a:t>Good Backup</a:t>
              </a:r>
              <a:endParaRPr lang="en-US" sz="10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3264408" y="1207008"/>
              <a:ext cx="2606040" cy="329184"/>
            </a:xfrm>
            <a:prstGeom prst="rect">
              <a:avLst/>
            </a:prstGeom>
            <a:noFill/>
            <a:ln/>
            <a:effectLst>
              <a:outerShdw blurRad="50800" dist="12700" dir="8100000" algn="bl" rotWithShape="0">
                <a:srgbClr val="FFB800">
                  <a:alpha val="55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APDS-9960</a:t>
              </a:r>
              <a:endParaRPr lang="en-US" sz="14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3264408" y="1536192"/>
              <a:ext cx="2606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Broadcom · I2C · RGB + proximity</a:t>
              </a:r>
              <a:endParaRPr lang="en-US" sz="9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5367528" y="175564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FFB800"/>
                  </a:solidFill>
                </a:rPr>
                <a:t>7/10</a:t>
              </a:r>
              <a:endParaRPr lang="en-US" sz="10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3264408" y="1956816"/>
              <a:ext cx="2606040" cy="91440"/>
            </a:xfrm>
            <a:prstGeom prst="rect">
              <a:avLst/>
            </a:prstGeom>
            <a:solidFill>
              <a:srgbClr val="0D3050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3264408" y="1956816"/>
              <a:ext cx="1824228" cy="91440"/>
            </a:xfrm>
            <a:prstGeom prst="rect">
              <a:avLst/>
            </a:prstGeom>
            <a:solidFill>
              <a:srgbClr val="FFB800"/>
            </a:solidFill>
            <a:ln/>
            <a:effectLst>
              <a:outerShdw blurRad="76200" dist="12700" dir="8100000" algn="bl" rotWithShape="0">
                <a:srgbClr val="FFB800">
                  <a:alpha val="55000"/>
                </a:srgbClr>
              </a:outerShdw>
            </a:effectLst>
          </p:spPr>
        </p:sp>
        <p:sp>
          <p:nvSpPr>
            <p:cNvPr id="59" name="Text 57"/>
            <p:cNvSpPr/>
            <p:nvPr/>
          </p:nvSpPr>
          <p:spPr>
            <a:xfrm>
              <a:off x="3264408" y="212140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Interface</a:t>
              </a:r>
              <a:endParaRPr lang="en-US" sz="95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4453128" y="212140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E5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I2C</a:t>
              </a:r>
              <a:endParaRPr lang="en-US" sz="95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3264408" y="2340864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IR Filter</a:t>
              </a:r>
              <a:endParaRPr lang="en-US" sz="95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4453128" y="2340864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Built-in</a:t>
              </a:r>
              <a:endParaRPr lang="en-US" sz="95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3264408" y="2560320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Bonus</a:t>
              </a:r>
              <a:endParaRPr lang="en-US" sz="95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4453128" y="2560320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Proximity + gesture</a:t>
              </a:r>
              <a:endParaRPr lang="en-US" sz="95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3264408" y="2779776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Gain</a:t>
              </a:r>
              <a:endParaRPr lang="en-US" sz="950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4453128" y="277977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1x to 64x</a:t>
              </a:r>
              <a:endParaRPr lang="en-US" sz="95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3264408" y="2999232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LED</a:t>
              </a:r>
              <a:endParaRPr lang="en-US" sz="95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4453128" y="2999232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External needed</a:t>
              </a:r>
              <a:endParaRPr lang="en-US" sz="950" dirty="0"/>
            </a:p>
          </p:txBody>
        </p:sp>
        <p:sp>
          <p:nvSpPr>
            <p:cNvPr id="69" name="Text 67"/>
            <p:cNvSpPr/>
            <p:nvPr/>
          </p:nvSpPr>
          <p:spPr>
            <a:xfrm>
              <a:off x="3264408" y="321868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</a:t>
              </a:r>
              <a:endParaRPr lang="en-US" sz="950" dirty="0"/>
            </a:p>
          </p:txBody>
        </p:sp>
        <p:sp>
          <p:nvSpPr>
            <p:cNvPr id="70" name="Text 68"/>
            <p:cNvSpPr/>
            <p:nvPr/>
          </p:nvSpPr>
          <p:spPr>
            <a:xfrm>
              <a:off x="4453128" y="321868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₹150–250</a:t>
              </a:r>
              <a:endParaRPr lang="en-US" sz="95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3264408" y="3474720"/>
              <a:ext cx="2606040" cy="0"/>
            </a:xfrm>
            <a:prstGeom prst="line">
              <a:avLst/>
            </a:prstGeom>
            <a:noFill/>
            <a:ln w="6350">
              <a:solidFill>
                <a:srgbClr val="0D3050"/>
              </a:solidFill>
              <a:prstDash val="solid"/>
            </a:ln>
          </p:spPr>
        </p:sp>
        <p:sp>
          <p:nvSpPr>
            <p:cNvPr id="72" name="Text 70"/>
            <p:cNvSpPr/>
            <p:nvPr/>
          </p:nvSpPr>
          <p:spPr>
            <a:xfrm>
              <a:off x="3264408" y="3511296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</a:t>
              </a:r>
              <a:endParaRPr lang="en-US" sz="900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3264408" y="3758184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74" name="Text 72"/>
            <p:cNvSpPr/>
            <p:nvPr/>
          </p:nvSpPr>
          <p:spPr>
            <a:xfrm>
              <a:off x="3264408" y="374904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3483864" y="373075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Proximity = bonus wall detect</a:t>
              </a:r>
              <a:endParaRPr lang="en-US" sz="95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3264408" y="4005072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77" name="Text 75"/>
            <p:cNvSpPr/>
            <p:nvPr/>
          </p:nvSpPr>
          <p:spPr>
            <a:xfrm>
              <a:off x="3264408" y="399592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78" name="Text 76"/>
            <p:cNvSpPr/>
            <p:nvPr/>
          </p:nvSpPr>
          <p:spPr>
            <a:xfrm>
              <a:off x="3483864" y="397764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Good black and blue detection</a:t>
              </a:r>
              <a:endParaRPr lang="en-US" sz="950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3264408" y="4251960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80" name="Text 78"/>
            <p:cNvSpPr/>
            <p:nvPr/>
          </p:nvSpPr>
          <p:spPr>
            <a:xfrm>
              <a:off x="3264408" y="424281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81" name="Text 79"/>
            <p:cNvSpPr/>
            <p:nvPr/>
          </p:nvSpPr>
          <p:spPr>
            <a:xfrm>
              <a:off x="3483864" y="422452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3.3V native for ESP32</a:t>
              </a:r>
              <a:endParaRPr lang="en-US" sz="950" dirty="0"/>
            </a:p>
          </p:txBody>
        </p:sp>
        <p:sp>
          <p:nvSpPr>
            <p:cNvPr id="82" name="Text 80"/>
            <p:cNvSpPr/>
            <p:nvPr/>
          </p:nvSpPr>
          <p:spPr>
            <a:xfrm>
              <a:off x="3264408" y="452628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</a:t>
              </a:r>
              <a:endParaRPr lang="en-US" sz="900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3264408" y="4773168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84" name="Text 82"/>
            <p:cNvSpPr/>
            <p:nvPr/>
          </p:nvSpPr>
          <p:spPr>
            <a:xfrm>
              <a:off x="3264408" y="4764024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85" name="Text 83"/>
            <p:cNvSpPr/>
            <p:nvPr/>
          </p:nvSpPr>
          <p:spPr>
            <a:xfrm>
              <a:off x="3483864" y="4745736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Silver vs white unreliable</a:t>
              </a:r>
              <a:endParaRPr lang="en-US" sz="950" dirty="0"/>
            </a:p>
          </p:txBody>
        </p:sp>
        <p:sp>
          <p:nvSpPr>
            <p:cNvPr id="86" name="Shape 84"/>
            <p:cNvSpPr/>
            <p:nvPr/>
          </p:nvSpPr>
          <p:spPr>
            <a:xfrm>
              <a:off x="3264408" y="5020056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87" name="Text 85"/>
            <p:cNvSpPr/>
            <p:nvPr/>
          </p:nvSpPr>
          <p:spPr>
            <a:xfrm>
              <a:off x="3264408" y="5010912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88" name="Text 86"/>
            <p:cNvSpPr/>
            <p:nvPr/>
          </p:nvSpPr>
          <p:spPr>
            <a:xfrm>
              <a:off x="3483864" y="4992624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onboard LED needed</a:t>
              </a:r>
              <a:endParaRPr lang="en-US" sz="950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3264408" y="5266944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90" name="Text 88"/>
            <p:cNvSpPr/>
            <p:nvPr/>
          </p:nvSpPr>
          <p:spPr>
            <a:xfrm>
              <a:off x="3264408" y="525780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91" name="Text 89"/>
            <p:cNvSpPr/>
            <p:nvPr/>
          </p:nvSpPr>
          <p:spPr>
            <a:xfrm>
              <a:off x="3483864" y="523951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Harder to source in India</a:t>
              </a:r>
              <a:endParaRPr lang="en-US" sz="950" dirty="0"/>
            </a:p>
          </p:txBody>
        </p:sp>
        <p:sp>
          <p:nvSpPr>
            <p:cNvPr id="92" name="Shape 90"/>
            <p:cNvSpPr/>
            <p:nvPr/>
          </p:nvSpPr>
          <p:spPr>
            <a:xfrm>
              <a:off x="3264408" y="5513832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93" name="Text 91"/>
            <p:cNvSpPr/>
            <p:nvPr/>
          </p:nvSpPr>
          <p:spPr>
            <a:xfrm>
              <a:off x="3264408" y="550468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94" name="Text 92"/>
            <p:cNvSpPr/>
            <p:nvPr/>
          </p:nvSpPr>
          <p:spPr>
            <a:xfrm>
              <a:off x="3483864" y="548640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Gesture wastes power</a:t>
              </a:r>
              <a:endParaRPr lang="en-US" sz="950" dirty="0"/>
            </a:p>
          </p:txBody>
        </p:sp>
      </p:grpSp>
      <p:sp>
        <p:nvSpPr>
          <p:cNvPr id="95" name="Shape 93"/>
          <p:cNvSpPr/>
          <p:nvPr/>
        </p:nvSpPr>
        <p:spPr>
          <a:xfrm>
            <a:off x="6144768" y="804672"/>
            <a:ext cx="2816352" cy="4338828"/>
          </a:xfrm>
          <a:prstGeom prst="rect">
            <a:avLst/>
          </a:prstGeom>
          <a:solidFill>
            <a:srgbClr val="061828"/>
          </a:solidFill>
          <a:ln w="25400">
            <a:solidFill>
              <a:srgbClr val="FF3D5A"/>
            </a:solidFill>
            <a:prstDash val="solid"/>
          </a:ln>
          <a:effectLst>
            <a:outerShdw blurRad="152400" dist="12700" dir="8100000" algn="bl" rotWithShape="0">
              <a:srgbClr val="FF3D5A">
                <a:alpha val="55000"/>
              </a:srgbClr>
            </a:outerShdw>
          </a:effectLst>
        </p:spPr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EC75F29-77C3-6F5D-93C7-8B8042E075EC}"/>
              </a:ext>
            </a:extLst>
          </p:cNvPr>
          <p:cNvGrpSpPr/>
          <p:nvPr/>
        </p:nvGrpSpPr>
        <p:grpSpPr>
          <a:xfrm>
            <a:off x="6236208" y="911692"/>
            <a:ext cx="2651760" cy="4231808"/>
            <a:chOff x="6236208" y="911692"/>
            <a:chExt cx="2651760" cy="4828032"/>
          </a:xfrm>
        </p:grpSpPr>
        <p:sp>
          <p:nvSpPr>
            <p:cNvPr id="96" name="Shape 94"/>
            <p:cNvSpPr/>
            <p:nvPr/>
          </p:nvSpPr>
          <p:spPr>
            <a:xfrm>
              <a:off x="6236208" y="911692"/>
              <a:ext cx="1463040" cy="274320"/>
            </a:xfrm>
            <a:prstGeom prst="rect">
              <a:avLst/>
            </a:prstGeom>
            <a:solidFill>
              <a:srgbClr val="FF3D5A">
                <a:alpha val="22000"/>
              </a:srgbClr>
            </a:solidFill>
            <a:ln w="10160">
              <a:solidFill>
                <a:srgbClr val="FF3D5A"/>
              </a:solidFill>
              <a:prstDash val="solid"/>
            </a:ln>
            <a:effectLst>
              <a:outerShdw blurRad="1016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97" name="Text 95"/>
            <p:cNvSpPr/>
            <p:nvPr/>
          </p:nvSpPr>
          <p:spPr>
            <a:xfrm>
              <a:off x="6236208" y="929980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3D5A"/>
                  </a:solidFill>
                </a:rPr>
                <a:t>Avoid</a:t>
              </a:r>
              <a:endParaRPr lang="en-US" sz="1000" dirty="0"/>
            </a:p>
          </p:txBody>
        </p:sp>
        <p:sp>
          <p:nvSpPr>
            <p:cNvPr id="98" name="Text 96"/>
            <p:cNvSpPr/>
            <p:nvPr/>
          </p:nvSpPr>
          <p:spPr>
            <a:xfrm>
              <a:off x="6236208" y="1240876"/>
              <a:ext cx="2606040" cy="329184"/>
            </a:xfrm>
            <a:prstGeom prst="rect">
              <a:avLst/>
            </a:prstGeom>
            <a:noFill/>
            <a:ln/>
            <a:effectLst>
              <a:outerShdw blurRad="50800" dist="12700" dir="8100000" algn="bl" rotWithShape="0">
                <a:srgbClr val="FF3D5A">
                  <a:alpha val="55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TCS3200</a:t>
              </a:r>
              <a:endParaRPr lang="en-US" sz="1400" dirty="0"/>
            </a:p>
          </p:txBody>
        </p:sp>
        <p:sp>
          <p:nvSpPr>
            <p:cNvPr id="99" name="Text 97"/>
            <p:cNvSpPr/>
            <p:nvPr/>
          </p:nvSpPr>
          <p:spPr>
            <a:xfrm>
              <a:off x="6236208" y="1570060"/>
              <a:ext cx="2606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AMS · PWM freq · 5V only</a:t>
              </a:r>
              <a:endParaRPr lang="en-US" sz="900" dirty="0"/>
            </a:p>
          </p:txBody>
        </p:sp>
        <p:sp>
          <p:nvSpPr>
            <p:cNvPr id="100" name="Text 98"/>
            <p:cNvSpPr/>
            <p:nvPr/>
          </p:nvSpPr>
          <p:spPr>
            <a:xfrm>
              <a:off x="8339328" y="1789516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FF3D5A"/>
                  </a:solidFill>
                </a:rPr>
                <a:t>2/10</a:t>
              </a:r>
              <a:endParaRPr lang="en-US" sz="1000" dirty="0"/>
            </a:p>
          </p:txBody>
        </p:sp>
        <p:sp>
          <p:nvSpPr>
            <p:cNvPr id="101" name="Shape 99"/>
            <p:cNvSpPr/>
            <p:nvPr/>
          </p:nvSpPr>
          <p:spPr>
            <a:xfrm>
              <a:off x="6236208" y="1990684"/>
              <a:ext cx="2606040" cy="91440"/>
            </a:xfrm>
            <a:prstGeom prst="rect">
              <a:avLst/>
            </a:prstGeom>
            <a:solidFill>
              <a:srgbClr val="0D3050"/>
            </a:solidFill>
            <a:ln/>
          </p:spPr>
        </p:sp>
        <p:sp>
          <p:nvSpPr>
            <p:cNvPr id="102" name="Shape 100"/>
            <p:cNvSpPr/>
            <p:nvPr/>
          </p:nvSpPr>
          <p:spPr>
            <a:xfrm>
              <a:off x="6236208" y="1990684"/>
              <a:ext cx="521208" cy="91440"/>
            </a:xfrm>
            <a:prstGeom prst="rect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03" name="Text 101"/>
            <p:cNvSpPr/>
            <p:nvPr/>
          </p:nvSpPr>
          <p:spPr>
            <a:xfrm>
              <a:off x="6236208" y="2155276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Interface</a:t>
              </a:r>
              <a:endParaRPr lang="en-US" sz="950" dirty="0"/>
            </a:p>
          </p:txBody>
        </p:sp>
        <p:sp>
          <p:nvSpPr>
            <p:cNvPr id="104" name="Text 102"/>
            <p:cNvSpPr/>
            <p:nvPr/>
          </p:nvSpPr>
          <p:spPr>
            <a:xfrm>
              <a:off x="7424928" y="215527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E5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PWM frequency</a:t>
              </a:r>
              <a:endParaRPr lang="en-US" sz="950" dirty="0"/>
            </a:p>
          </p:txBody>
        </p:sp>
        <p:sp>
          <p:nvSpPr>
            <p:cNvPr id="105" name="Text 103"/>
            <p:cNvSpPr/>
            <p:nvPr/>
          </p:nvSpPr>
          <p:spPr>
            <a:xfrm>
              <a:off x="6236208" y="2374732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IR Filter</a:t>
              </a:r>
              <a:endParaRPr lang="en-US" sz="950" dirty="0"/>
            </a:p>
          </p:txBody>
        </p:sp>
        <p:sp>
          <p:nvSpPr>
            <p:cNvPr id="106" name="Text 104"/>
            <p:cNvSpPr/>
            <p:nvPr/>
          </p:nvSpPr>
          <p:spPr>
            <a:xfrm>
              <a:off x="7424928" y="2374732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None</a:t>
              </a:r>
              <a:endParaRPr lang="en-US" sz="950" dirty="0"/>
            </a:p>
          </p:txBody>
        </p:sp>
        <p:sp>
          <p:nvSpPr>
            <p:cNvPr id="107" name="Text 105"/>
            <p:cNvSpPr/>
            <p:nvPr/>
          </p:nvSpPr>
          <p:spPr>
            <a:xfrm>
              <a:off x="6236208" y="2594188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Clear channel</a:t>
              </a:r>
              <a:endParaRPr lang="en-US" sz="950" dirty="0"/>
            </a:p>
          </p:txBody>
        </p:sp>
        <p:sp>
          <p:nvSpPr>
            <p:cNvPr id="108" name="Text 106"/>
            <p:cNvSpPr/>
            <p:nvPr/>
          </p:nvSpPr>
          <p:spPr>
            <a:xfrm>
              <a:off x="7424928" y="2594188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</a:t>
              </a:r>
              <a:endParaRPr lang="en-US" sz="950" dirty="0"/>
            </a:p>
          </p:txBody>
        </p:sp>
        <p:sp>
          <p:nvSpPr>
            <p:cNvPr id="109" name="Text 107"/>
            <p:cNvSpPr/>
            <p:nvPr/>
          </p:nvSpPr>
          <p:spPr>
            <a:xfrm>
              <a:off x="6236208" y="2813644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Gain</a:t>
              </a:r>
              <a:endParaRPr lang="en-US" sz="950" dirty="0"/>
            </a:p>
          </p:txBody>
        </p:sp>
        <p:sp>
          <p:nvSpPr>
            <p:cNvPr id="110" name="Text 108"/>
            <p:cNvSpPr/>
            <p:nvPr/>
          </p:nvSpPr>
          <p:spPr>
            <a:xfrm>
              <a:off x="7424928" y="2813644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Fixed</a:t>
              </a:r>
              <a:endParaRPr lang="en-US" sz="950" dirty="0"/>
            </a:p>
          </p:txBody>
        </p:sp>
        <p:sp>
          <p:nvSpPr>
            <p:cNvPr id="111" name="Text 109"/>
            <p:cNvSpPr/>
            <p:nvPr/>
          </p:nvSpPr>
          <p:spPr>
            <a:xfrm>
              <a:off x="6236208" y="3033100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LEDs</a:t>
              </a:r>
              <a:endParaRPr lang="en-US" sz="950" dirty="0"/>
            </a:p>
          </p:txBody>
        </p:sp>
        <p:sp>
          <p:nvSpPr>
            <p:cNvPr id="112" name="Text 110"/>
            <p:cNvSpPr/>
            <p:nvPr/>
          </p:nvSpPr>
          <p:spPr>
            <a:xfrm>
              <a:off x="7424928" y="3033100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4x white</a:t>
              </a:r>
              <a:endParaRPr lang="en-US" sz="950" dirty="0"/>
            </a:p>
          </p:txBody>
        </p:sp>
        <p:sp>
          <p:nvSpPr>
            <p:cNvPr id="113" name="Text 111"/>
            <p:cNvSpPr/>
            <p:nvPr/>
          </p:nvSpPr>
          <p:spPr>
            <a:xfrm>
              <a:off x="6236208" y="3252556"/>
              <a:ext cx="11430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BA3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</a:t>
              </a:r>
              <a:endParaRPr lang="en-US" sz="950" dirty="0"/>
            </a:p>
          </p:txBody>
        </p:sp>
        <p:sp>
          <p:nvSpPr>
            <p:cNvPr id="114" name="Text 112"/>
            <p:cNvSpPr/>
            <p:nvPr/>
          </p:nvSpPr>
          <p:spPr>
            <a:xfrm>
              <a:off x="7424928" y="3252556"/>
              <a:ext cx="1417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₹40–80</a:t>
              </a:r>
              <a:endParaRPr lang="en-US" sz="950" dirty="0"/>
            </a:p>
          </p:txBody>
        </p:sp>
        <p:sp>
          <p:nvSpPr>
            <p:cNvPr id="115" name="Shape 113"/>
            <p:cNvSpPr/>
            <p:nvPr/>
          </p:nvSpPr>
          <p:spPr>
            <a:xfrm>
              <a:off x="6236208" y="3508588"/>
              <a:ext cx="2606040" cy="0"/>
            </a:xfrm>
            <a:prstGeom prst="line">
              <a:avLst/>
            </a:prstGeom>
            <a:noFill/>
            <a:ln w="6350">
              <a:solidFill>
                <a:srgbClr val="0D3050"/>
              </a:solidFill>
              <a:prstDash val="solid"/>
            </a:ln>
          </p:spPr>
        </p:sp>
        <p:sp>
          <p:nvSpPr>
            <p:cNvPr id="116" name="Text 114"/>
            <p:cNvSpPr/>
            <p:nvPr/>
          </p:nvSpPr>
          <p:spPr>
            <a:xfrm>
              <a:off x="6236208" y="3545164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</a:t>
              </a:r>
              <a:endParaRPr lang="en-US" sz="900" dirty="0"/>
            </a:p>
          </p:txBody>
        </p:sp>
        <p:sp>
          <p:nvSpPr>
            <p:cNvPr id="117" name="Shape 115"/>
            <p:cNvSpPr/>
            <p:nvPr/>
          </p:nvSpPr>
          <p:spPr>
            <a:xfrm>
              <a:off x="6236208" y="3792052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18" name="Text 116"/>
            <p:cNvSpPr/>
            <p:nvPr/>
          </p:nvSpPr>
          <p:spPr>
            <a:xfrm>
              <a:off x="6236208" y="378290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119" name="Text 117"/>
            <p:cNvSpPr/>
            <p:nvPr/>
          </p:nvSpPr>
          <p:spPr>
            <a:xfrm>
              <a:off x="6455664" y="376462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Cheapest (₹40)</a:t>
              </a:r>
              <a:endParaRPr lang="en-US" sz="950" dirty="0"/>
            </a:p>
          </p:txBody>
        </p:sp>
        <p:sp>
          <p:nvSpPr>
            <p:cNvPr id="120" name="Shape 118"/>
            <p:cNvSpPr/>
            <p:nvPr/>
          </p:nvSpPr>
          <p:spPr>
            <a:xfrm>
              <a:off x="6236208" y="4038940"/>
              <a:ext cx="155448" cy="155448"/>
            </a:xfrm>
            <a:prstGeom prst="ellipse">
              <a:avLst/>
            </a:prstGeom>
            <a:solidFill>
              <a:srgbClr val="00FF87"/>
            </a:solidFill>
            <a:ln/>
            <a:effectLst>
              <a:outerShdw blurRad="76200" dist="12700" dir="8100000" algn="bl" rotWithShape="0">
                <a:srgbClr val="00FF87">
                  <a:alpha val="55000"/>
                </a:srgbClr>
              </a:outerShdw>
            </a:effectLst>
          </p:spPr>
        </p:sp>
        <p:sp>
          <p:nvSpPr>
            <p:cNvPr id="121" name="Text 119"/>
            <p:cNvSpPr/>
            <p:nvPr/>
          </p:nvSpPr>
          <p:spPr>
            <a:xfrm>
              <a:off x="6236208" y="402979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10B18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122" name="Text 120"/>
            <p:cNvSpPr/>
            <p:nvPr/>
          </p:nvSpPr>
          <p:spPr>
            <a:xfrm>
              <a:off x="6455664" y="401150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0FF8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Black detection works OK</a:t>
              </a:r>
              <a:endParaRPr lang="en-US" sz="950" dirty="0"/>
            </a:p>
          </p:txBody>
        </p:sp>
        <p:sp>
          <p:nvSpPr>
            <p:cNvPr id="123" name="Text 121"/>
            <p:cNvSpPr/>
            <p:nvPr/>
          </p:nvSpPr>
          <p:spPr>
            <a:xfrm>
              <a:off x="6236208" y="431326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</a:t>
              </a:r>
              <a:endParaRPr lang="en-US" sz="900" dirty="0"/>
            </a:p>
          </p:txBody>
        </p:sp>
        <p:sp>
          <p:nvSpPr>
            <p:cNvPr id="124" name="Shape 122"/>
            <p:cNvSpPr/>
            <p:nvPr/>
          </p:nvSpPr>
          <p:spPr>
            <a:xfrm>
              <a:off x="6236208" y="4560148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25" name="Text 123"/>
            <p:cNvSpPr/>
            <p:nvPr/>
          </p:nvSpPr>
          <p:spPr>
            <a:xfrm>
              <a:off x="6236208" y="4551004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26" name="Text 124"/>
            <p:cNvSpPr/>
            <p:nvPr/>
          </p:nvSpPr>
          <p:spPr>
            <a:xfrm>
              <a:off x="6455664" y="4532716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IR filter — fails under lights</a:t>
              </a:r>
              <a:endParaRPr lang="en-US" sz="950" dirty="0"/>
            </a:p>
          </p:txBody>
        </p:sp>
        <p:sp>
          <p:nvSpPr>
            <p:cNvPr id="127" name="Shape 125"/>
            <p:cNvSpPr/>
            <p:nvPr/>
          </p:nvSpPr>
          <p:spPr>
            <a:xfrm>
              <a:off x="6236208" y="4807036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28" name="Text 126"/>
            <p:cNvSpPr/>
            <p:nvPr/>
          </p:nvSpPr>
          <p:spPr>
            <a:xfrm>
              <a:off x="6236208" y="4797892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29" name="Text 127"/>
            <p:cNvSpPr/>
            <p:nvPr/>
          </p:nvSpPr>
          <p:spPr>
            <a:xfrm>
              <a:off x="6455664" y="4779604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CANNOT tell silver from white</a:t>
              </a:r>
              <a:endParaRPr lang="en-US" sz="950" dirty="0"/>
            </a:p>
          </p:txBody>
        </p:sp>
        <p:sp>
          <p:nvSpPr>
            <p:cNvPr id="130" name="Shape 128"/>
            <p:cNvSpPr/>
            <p:nvPr/>
          </p:nvSpPr>
          <p:spPr>
            <a:xfrm>
              <a:off x="6236208" y="5053924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31" name="Text 129"/>
            <p:cNvSpPr/>
            <p:nvPr/>
          </p:nvSpPr>
          <p:spPr>
            <a:xfrm>
              <a:off x="6236208" y="5044780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32" name="Text 130"/>
            <p:cNvSpPr/>
            <p:nvPr/>
          </p:nvSpPr>
          <p:spPr>
            <a:xfrm>
              <a:off x="6455664" y="5026492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5V output damages ESP32</a:t>
              </a:r>
              <a:endParaRPr lang="en-US" sz="950" dirty="0"/>
            </a:p>
          </p:txBody>
        </p:sp>
        <p:sp>
          <p:nvSpPr>
            <p:cNvPr id="133" name="Shape 131"/>
            <p:cNvSpPr/>
            <p:nvPr/>
          </p:nvSpPr>
          <p:spPr>
            <a:xfrm>
              <a:off x="6236208" y="5300812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34" name="Text 132"/>
            <p:cNvSpPr/>
            <p:nvPr/>
          </p:nvSpPr>
          <p:spPr>
            <a:xfrm>
              <a:off x="6236208" y="5291668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35" name="Text 133"/>
            <p:cNvSpPr/>
            <p:nvPr/>
          </p:nvSpPr>
          <p:spPr>
            <a:xfrm>
              <a:off x="6455664" y="5273380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PWM timing complex + slow</a:t>
              </a:r>
              <a:endParaRPr lang="en-US" sz="950" dirty="0"/>
            </a:p>
          </p:txBody>
        </p:sp>
        <p:sp>
          <p:nvSpPr>
            <p:cNvPr id="136" name="Shape 134"/>
            <p:cNvSpPr/>
            <p:nvPr/>
          </p:nvSpPr>
          <p:spPr>
            <a:xfrm>
              <a:off x="6236208" y="5547700"/>
              <a:ext cx="155448" cy="155448"/>
            </a:xfrm>
            <a:prstGeom prst="ellipse">
              <a:avLst/>
            </a:prstGeom>
            <a:solidFill>
              <a:srgbClr val="FF3D5A"/>
            </a:solidFill>
            <a:ln/>
            <a:effectLst>
              <a:outerShdw blurRad="76200" dist="12700" dir="8100000" algn="bl" rotWithShape="0">
                <a:srgbClr val="FF3D5A">
                  <a:alpha val="55000"/>
                </a:srgbClr>
              </a:outerShdw>
            </a:effectLst>
          </p:spPr>
        </p:sp>
        <p:sp>
          <p:nvSpPr>
            <p:cNvPr id="137" name="Text 135"/>
            <p:cNvSpPr/>
            <p:nvPr/>
          </p:nvSpPr>
          <p:spPr>
            <a:xfrm>
              <a:off x="6236208" y="5538556"/>
              <a:ext cx="155448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-</a:t>
              </a:r>
              <a:endParaRPr lang="en-US" sz="1000" dirty="0"/>
            </a:p>
          </p:txBody>
        </p:sp>
        <p:sp>
          <p:nvSpPr>
            <p:cNvPr id="138" name="Text 136"/>
            <p:cNvSpPr/>
            <p:nvPr/>
          </p:nvSpPr>
          <p:spPr>
            <a:xfrm>
              <a:off x="6455664" y="5520268"/>
              <a:ext cx="2331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F3D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Unreliable in competition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0081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66928"/>
          </a:xfrm>
          <a:prstGeom prst="rect">
            <a:avLst/>
          </a:prstGeom>
          <a:noFill/>
          <a:ln/>
          <a:effectLst>
            <a:outerShdw blurRad="254000" dist="12700" dir="8100000" algn="bl" rotWithShape="0">
              <a:srgbClr val="00E5FF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SYSTEM: 3S LiPo BATTERY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7512"/>
            <a:ext cx="9144000" cy="109728"/>
          </a:xfrm>
          <a:prstGeom prst="rect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04672"/>
            <a:ext cx="5303520" cy="4133088"/>
          </a:xfrm>
          <a:prstGeom prst="rect">
            <a:avLst/>
          </a:prstGeom>
          <a:solidFill>
            <a:srgbClr val="061828"/>
          </a:solidFill>
          <a:ln w="25400">
            <a:solidFill>
              <a:srgbClr val="00FF87"/>
            </a:solidFill>
            <a:prstDash val="solid"/>
          </a:ln>
          <a:effectLst>
            <a:outerShdw blurRad="254000" dist="12700" dir="8100000" algn="bl" rotWithShape="0">
              <a:srgbClr val="00FF87">
                <a:alpha val="7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5303520" cy="54864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0120"/>
            <a:ext cx="4937760" cy="365760"/>
          </a:xfrm>
          <a:prstGeom prst="rect">
            <a:avLst/>
          </a:prstGeom>
          <a:noFill/>
          <a:ln/>
          <a:effectLst>
            <a:outerShdw blurRad="254000" dist="12700" dir="8100000" algn="bl" rotWithShape="0">
              <a:srgbClr val="00FF87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 LiPo Battery Pack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11.1V nominal  ·  12.6V full charge  ·  9.9V cutoff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190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31720" y="171907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 (3 cells in series)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956816"/>
            <a:ext cx="4754880" cy="0"/>
          </a:xfrm>
          <a:prstGeom prst="line">
            <a:avLst/>
          </a:prstGeom>
          <a:noFill/>
          <a:ln w="3810">
            <a:solidFill>
              <a:srgbClr val="0D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9339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voltage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31720" y="199339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11.1V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231136"/>
            <a:ext cx="4754880" cy="0"/>
          </a:xfrm>
          <a:prstGeom prst="line">
            <a:avLst/>
          </a:prstGeom>
          <a:noFill/>
          <a:ln w="3810">
            <a:solidFill>
              <a:srgbClr val="0D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677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charge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31720" y="226771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12.6V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505456"/>
            <a:ext cx="4754880" cy="0"/>
          </a:xfrm>
          <a:prstGeom prst="line">
            <a:avLst/>
          </a:prstGeom>
          <a:noFill/>
          <a:ln w="3810">
            <a:solidFill>
              <a:srgbClr val="0D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4203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cutoff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31720" y="254203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9.9V (3.3V/cell)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779776"/>
            <a:ext cx="4754880" cy="0"/>
          </a:xfrm>
          <a:prstGeom prst="line">
            <a:avLst/>
          </a:prstGeom>
          <a:noFill/>
          <a:ln w="3810">
            <a:solidFill>
              <a:srgbClr val="0D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1635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31720" y="28163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1500–2200 mAh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054096"/>
            <a:ext cx="4754880" cy="0"/>
          </a:xfrm>
          <a:prstGeom prst="line">
            <a:avLst/>
          </a:prstGeom>
          <a:noFill/>
          <a:ln w="3810">
            <a:solidFill>
              <a:srgbClr val="0D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906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331720" y="309067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20C+ recommended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328416"/>
            <a:ext cx="4754880" cy="0"/>
          </a:xfrm>
          <a:prstGeom prst="line">
            <a:avLst/>
          </a:prstGeom>
          <a:noFill/>
          <a:ln w="3810">
            <a:solidFill>
              <a:srgbClr val="0D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6499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31720" y="336499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XT60 / JST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602736"/>
            <a:ext cx="4754880" cy="0"/>
          </a:xfrm>
          <a:prstGeom prst="line">
            <a:avLst/>
          </a:prstGeom>
          <a:noFill/>
          <a:ln w="3810">
            <a:solidFill>
              <a:srgbClr val="0D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39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331720" y="363931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~100–180g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877056"/>
            <a:ext cx="4754880" cy="0"/>
          </a:xfrm>
          <a:prstGeom prst="line">
            <a:avLst/>
          </a:prstGeom>
          <a:noFill/>
          <a:ln w="3810">
            <a:solidFill>
              <a:srgbClr val="0D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1363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331720" y="391363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₹500–900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187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416552"/>
            <a:ext cx="155448" cy="155448"/>
          </a:xfrm>
          <a:prstGeom prst="ellipse">
            <a:avLst/>
          </a:prstGeom>
          <a:solidFill>
            <a:srgbClr val="00FF87"/>
          </a:solidFill>
          <a:ln/>
          <a:effectLst>
            <a:outerShdw blurRad="76200" dist="12700" dir="8100000" algn="bl" rotWithShape="0">
              <a:srgbClr val="00FF87">
                <a:alpha val="5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440740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0B18"/>
                </a:solidFill>
              </a:rPr>
              <a:t>+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6656" y="43891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12.6V direct to BTS7960 — max motor power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654296"/>
            <a:ext cx="155448" cy="155448"/>
          </a:xfrm>
          <a:prstGeom prst="ellipse">
            <a:avLst/>
          </a:prstGeom>
          <a:solidFill>
            <a:srgbClr val="00FF87"/>
          </a:solidFill>
          <a:ln/>
          <a:effectLst>
            <a:outerShdw blurRad="76200" dist="12700" dir="8100000" algn="bl" rotWithShape="0">
              <a:srgbClr val="00FF87">
                <a:alpha val="5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" y="464515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0B18"/>
                </a:solidFill>
              </a:rPr>
              <a:t>+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6656" y="46268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and compact for 27cm robot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760720" y="804672"/>
            <a:ext cx="3108960" cy="2377440"/>
          </a:xfrm>
          <a:prstGeom prst="rect">
            <a:avLst/>
          </a:prstGeom>
          <a:solidFill>
            <a:srgbClr val="061828"/>
          </a:solidFill>
          <a:ln w="15240">
            <a:solidFill>
              <a:srgbClr val="00E5FF"/>
            </a:solidFill>
            <a:prstDash val="solid"/>
          </a:ln>
          <a:effectLst>
            <a:outerShdw blurRad="1524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897880" y="896112"/>
            <a:ext cx="2834640" cy="274320"/>
          </a:xfrm>
          <a:prstGeom prst="rect">
            <a:avLst/>
          </a:prstGeom>
          <a:noFill/>
          <a:ln/>
          <a:effectLst>
            <a:outerShdw blurRad="50800" dist="12700" dir="8100000" algn="bl" rotWithShape="0">
              <a:srgbClr val="00E5FF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DISTRIBUTION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897880" y="12801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 LiPo 12.6V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32320" y="1280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BTS7960 VIN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897880" y="146304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— motors get full voltage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897880" y="16916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LM2596 Buck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32320" y="1691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12.6V → 5V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897880" y="18745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ESP32, sensors, LED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897880" y="2103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3.3V pin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132320" y="2103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TCS34725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897880" y="22860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colour sensor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897880" y="2514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pins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132320" y="2514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Trigger/Echo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897880" y="26974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760720" y="3291840"/>
            <a:ext cx="3108960" cy="1778508"/>
          </a:xfrm>
          <a:prstGeom prst="rect">
            <a:avLst/>
          </a:prstGeom>
          <a:solidFill>
            <a:srgbClr val="061828"/>
          </a:solidFill>
          <a:ln w="15240">
            <a:solidFill>
              <a:srgbClr val="FFB800"/>
            </a:solidFill>
            <a:prstDash val="solid"/>
          </a:ln>
          <a:effectLst>
            <a:outerShdw blurRad="152400" dist="12700" dir="8100000" algn="bl" rotWithShape="0">
              <a:srgbClr val="FFB800">
                <a:alpha val="5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897880" y="3383280"/>
            <a:ext cx="2834640" cy="256032"/>
          </a:xfrm>
          <a:prstGeom prst="rect">
            <a:avLst/>
          </a:prstGeom>
          <a:noFill/>
          <a:ln/>
          <a:effectLst>
            <a:outerShdw blurRad="50800" dist="12700" dir="8100000" algn="bl" rotWithShape="0">
              <a:srgbClr val="FFB8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BUDGET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897880" y="3712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Motors (loaded)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772400" y="37124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mA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897880" y="3931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ESP32-CAM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772400" y="3931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mA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897880" y="41513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x3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772400" y="41513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mA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897880" y="4370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TCS34725 + LED + Buzz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772400" y="43708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mA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897880" y="45902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draw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772400" y="45902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~1,050 mA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897880" y="4809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(1500mAh)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772400" y="48097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 min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0081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66928"/>
          </a:xfrm>
          <a:prstGeom prst="rect">
            <a:avLst/>
          </a:prstGeom>
          <a:noFill/>
          <a:ln/>
          <a:effectLst>
            <a:outerShdw blurRad="254000" dist="12700" dir="8100000" algn="bl" rotWithShape="0">
              <a:srgbClr val="00E5FF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&amp; COMPETITION OUTPUTS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7512"/>
            <a:ext cx="9144000" cy="109728"/>
          </a:xfrm>
          <a:prstGeom prst="rect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04672"/>
            <a:ext cx="4206240" cy="2331720"/>
          </a:xfrm>
          <a:prstGeom prst="rect">
            <a:avLst/>
          </a:prstGeom>
          <a:solidFill>
            <a:srgbClr val="061828"/>
          </a:solidFill>
          <a:ln w="15240">
            <a:solidFill>
              <a:srgbClr val="00E5FF"/>
            </a:solidFill>
            <a:prstDash val="solid"/>
          </a:ln>
          <a:effectLst>
            <a:outerShdw blurRad="1524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96112"/>
            <a:ext cx="3931920" cy="292608"/>
          </a:xfrm>
          <a:prstGeom prst="rect">
            <a:avLst/>
          </a:prstGeom>
          <a:noFill/>
          <a:ln/>
          <a:effectLst>
            <a:outerShdw blurRad="50800" dist="12700" dir="8100000" algn="bl" rotWithShape="0">
              <a:srgbClr val="00E5FF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MODULE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AI-Thinker · OV2640 2MP · ₹280–380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37360" y="148132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UXGA (1600x1200)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719072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37360" y="171907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serial to main ESP32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1956816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37360" y="1956816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colour thresholding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194560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37360" y="2194560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down, 8–10mm height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243230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37360" y="2432304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+ black zone confirm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734056"/>
            <a:ext cx="155448" cy="155448"/>
          </a:xfrm>
          <a:prstGeom prst="ellipse">
            <a:avLst/>
          </a:prstGeom>
          <a:solidFill>
            <a:srgbClr val="00FF87"/>
          </a:solidFill>
          <a:ln/>
          <a:effectLst>
            <a:outerShdw blurRad="76200" dist="12700" dir="8100000" algn="bl" rotWithShape="0">
              <a:srgbClr val="00FF87">
                <a:alpha val="5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272491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0B18"/>
                </a:solidFill>
              </a:rPr>
              <a:t>+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" y="270662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confirms TCS34725 readings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804672"/>
            <a:ext cx="4206240" cy="1097280"/>
          </a:xfrm>
          <a:prstGeom prst="rect">
            <a:avLst/>
          </a:prstGeom>
          <a:solidFill>
            <a:srgbClr val="061828"/>
          </a:solidFill>
          <a:ln w="15240">
            <a:solidFill>
              <a:srgbClr val="00B4D8"/>
            </a:solidFill>
            <a:prstDash val="solid"/>
          </a:ln>
          <a:effectLst>
            <a:outerShdw blurRad="152400" dist="12700" dir="8100000" algn="bl" rotWithShape="0">
              <a:srgbClr val="00B4D8">
                <a:alpha val="5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896112"/>
            <a:ext cx="3931920" cy="274320"/>
          </a:xfrm>
          <a:prstGeom prst="rect">
            <a:avLst/>
          </a:prstGeom>
          <a:noFill/>
          <a:ln/>
          <a:effectLst>
            <a:outerShdw blurRad="76200" dist="12700" dir="8100000" algn="bl" rotWithShape="0">
              <a:srgbClr val="00B4D8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LED OUTPUT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00600" y="11887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5mm diffused blue LED + 100ohm resistor → ESP32 PWM pin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Blink when blue tile detected · 5 Hz · 3+ blinks minimum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011680"/>
            <a:ext cx="4206240" cy="1124712"/>
          </a:xfrm>
          <a:prstGeom prst="rect">
            <a:avLst/>
          </a:prstGeom>
          <a:solidFill>
            <a:srgbClr val="061828"/>
          </a:solidFill>
          <a:ln w="15240">
            <a:solidFill>
              <a:srgbClr val="FF3D5A"/>
            </a:solidFill>
            <a:prstDash val="solid"/>
          </a:ln>
          <a:effectLst>
            <a:outerShdw blurRad="152400" dist="12700" dir="8100000" algn="bl" rotWithShape="0">
              <a:srgbClr val="FF3D5A">
                <a:alpha val="5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2103120"/>
            <a:ext cx="3931920" cy="274320"/>
          </a:xfrm>
          <a:prstGeom prst="rect">
            <a:avLst/>
          </a:prstGeom>
          <a:noFill/>
          <a:ln/>
          <a:effectLst>
            <a:outerShdw blurRad="76200" dist="12700" dir="8100000" algn="bl" rotWithShape="0">
              <a:srgbClr val="FF3D5A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BUZZER OUTPUT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23957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active buzzer module → ESP32 digital GPIO HIGH = sound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2624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Sound on black hazard · 500ms duration · Audible from 2m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246120"/>
            <a:ext cx="8595360" cy="1691640"/>
          </a:xfrm>
          <a:prstGeom prst="rect">
            <a:avLst/>
          </a:prstGeom>
          <a:solidFill>
            <a:srgbClr val="061828"/>
          </a:solidFill>
          <a:ln w="15240">
            <a:solidFill>
              <a:srgbClr val="B86FFF"/>
            </a:solidFill>
            <a:prstDash val="solid"/>
          </a:ln>
          <a:effectLst>
            <a:outerShdw blurRad="152400" dist="12700" dir="8100000" algn="bl" rotWithShape="0">
              <a:srgbClr val="B86FFF">
                <a:alpha val="5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1480" y="3337560"/>
            <a:ext cx="8321040" cy="274320"/>
          </a:xfrm>
          <a:prstGeom prst="rect">
            <a:avLst/>
          </a:prstGeom>
          <a:noFill/>
          <a:ln/>
          <a:effectLst>
            <a:outerShdw blurRad="76200" dist="12700" dir="8100000" algn="bl" rotWithShape="0">
              <a:srgbClr val="B86FFF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8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ACCESSORIES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1480" y="36941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Level Shifter x 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77440" y="36941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₹40–70 each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3913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Echo 5V → ESP32 3.3V. Protects GPIO pins.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0" y="36941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LM2596 Buck Converter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37960" y="36941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₹50–90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0" y="3913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12.6V LiPo → 5V. ESP32 must never see &gt;5V.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4261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Perfboard + Header Pins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377440" y="42611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₹40–60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final circuit. Breadboard fails under vibration.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0" y="4261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 Wires (M-M, M-F)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37960" y="42611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₹80–130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Prototyping. Get both male-male and male-female sets.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00810"/>
          </a:solidFill>
          <a:ln/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66928"/>
          </a:xfrm>
          <a:prstGeom prst="rect">
            <a:avLst/>
          </a:prstGeom>
          <a:noFill/>
          <a:ln/>
          <a:effectLst>
            <a:outerShdw blurRad="254000" dist="12700" dir="8100000" algn="bl" rotWithShape="0">
              <a:srgbClr val="00E5FF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BILL OF MATERIALS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7512"/>
            <a:ext cx="9144000" cy="109728"/>
          </a:xfrm>
          <a:prstGeom prst="rect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04672"/>
            <a:ext cx="8595360" cy="329184"/>
          </a:xfrm>
          <a:prstGeom prst="rect">
            <a:avLst/>
          </a:prstGeom>
          <a:solidFill>
            <a:srgbClr val="00E5FF">
              <a:alpha val="18000"/>
            </a:srgbClr>
          </a:solidFill>
          <a:ln/>
          <a:effectLst>
            <a:outerShdw blurRad="762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832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832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8321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832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152144"/>
            <a:ext cx="8595360" cy="256032"/>
          </a:xfrm>
          <a:prstGeom prst="rect">
            <a:avLst/>
          </a:prstGeom>
          <a:solidFill>
            <a:srgbClr val="06182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170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 V1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0" y="1170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11704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760720" y="11704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brain controller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408176"/>
            <a:ext cx="8595360" cy="256032"/>
          </a:xfrm>
          <a:prstGeom prst="rect">
            <a:avLst/>
          </a:prstGeom>
          <a:solidFill>
            <a:srgbClr val="0A223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426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(AI-Thinker)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0" y="14264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14264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₹330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60720" y="14264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detection camera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664208"/>
            <a:ext cx="8595360" cy="256032"/>
          </a:xfrm>
          <a:prstGeom prst="rect">
            <a:avLst/>
          </a:prstGeom>
          <a:solidFill>
            <a:srgbClr val="06182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6824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BTS7960 43A driver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0" y="16824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16824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760720" y="16824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driver (1 per motor)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1920240"/>
            <a:ext cx="8595360" cy="256032"/>
          </a:xfrm>
          <a:prstGeom prst="rect">
            <a:avLst/>
          </a:prstGeom>
          <a:solidFill>
            <a:srgbClr val="0A2238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1938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RPM BO motor + encoder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0" y="19385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1938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60720" y="19385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motors with encoder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2176272"/>
            <a:ext cx="8595360" cy="256032"/>
          </a:xfrm>
          <a:prstGeom prst="rect">
            <a:avLst/>
          </a:prstGeom>
          <a:solidFill>
            <a:srgbClr val="061828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21945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34mm rubber tyre pair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0" y="21945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63440" y="21945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60720" y="21945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wheels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2432304"/>
            <a:ext cx="8595360" cy="256032"/>
          </a:xfrm>
          <a:prstGeom prst="rect">
            <a:avLst/>
          </a:prstGeom>
          <a:solidFill>
            <a:srgbClr val="0A2238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24505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25mm ball caster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0" y="24505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663440" y="24505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760720" y="24505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support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2688336"/>
            <a:ext cx="8595360" cy="256032"/>
          </a:xfrm>
          <a:prstGeom prst="rect">
            <a:avLst/>
          </a:prstGeom>
          <a:solidFill>
            <a:srgbClr val="061828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27066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114800" y="270662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663440" y="27066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760720" y="270662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detection F/L/R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2944368"/>
            <a:ext cx="8595360" cy="256032"/>
          </a:xfrm>
          <a:prstGeom prst="rect">
            <a:avLst/>
          </a:prstGeom>
          <a:solidFill>
            <a:srgbClr val="0A2238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29626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TCS34725 colour sensor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114800" y="29626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663440" y="29626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760720" y="29626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colour detection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3200400"/>
            <a:ext cx="8595360" cy="256032"/>
          </a:xfrm>
          <a:prstGeom prst="rect">
            <a:avLst/>
          </a:prstGeom>
          <a:solidFill>
            <a:srgbClr val="061828"/>
          </a:solidFill>
          <a:ln/>
        </p:spPr>
      </p:sp>
      <p:sp>
        <p:nvSpPr>
          <p:cNvPr id="52" name="Text 50"/>
          <p:cNvSpPr/>
          <p:nvPr/>
        </p:nvSpPr>
        <p:spPr>
          <a:xfrm>
            <a:off x="365760" y="32186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 LiPo 1500mAh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114800" y="32186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663440" y="32186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760720" y="32186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11.1V main power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4320" y="3456432"/>
            <a:ext cx="8595360" cy="256032"/>
          </a:xfrm>
          <a:prstGeom prst="rect">
            <a:avLst/>
          </a:prstGeom>
          <a:solidFill>
            <a:srgbClr val="0A2238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34747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LM2596 5V buck converter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114800" y="34747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663440" y="34747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760720" y="34747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12.6V → 5V regulation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74320" y="3712464"/>
            <a:ext cx="8595360" cy="256032"/>
          </a:xfrm>
          <a:prstGeom prst="rect">
            <a:avLst/>
          </a:prstGeom>
          <a:solidFill>
            <a:srgbClr val="061828"/>
          </a:solidFill>
          <a:ln/>
        </p:spPr>
      </p:sp>
      <p:sp>
        <p:nvSpPr>
          <p:cNvPr id="62" name="Text 60"/>
          <p:cNvSpPr/>
          <p:nvPr/>
        </p:nvSpPr>
        <p:spPr>
          <a:xfrm>
            <a:off x="365760" y="3730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4-ch logic level shifter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114800" y="37307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663440" y="37307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₹120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760720" y="37307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↔ 3.3V protection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74320" y="3968496"/>
            <a:ext cx="8595360" cy="256032"/>
          </a:xfrm>
          <a:prstGeom prst="rect">
            <a:avLst/>
          </a:prstGeom>
          <a:solidFill>
            <a:srgbClr val="0A2238"/>
          </a:solidFill>
          <a:ln/>
        </p:spPr>
      </p:sp>
      <p:sp>
        <p:nvSpPr>
          <p:cNvPr id="67" name="Text 65"/>
          <p:cNvSpPr/>
          <p:nvPr/>
        </p:nvSpPr>
        <p:spPr>
          <a:xfrm>
            <a:off x="365760" y="39867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Acrylic chassis 2-layer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114800" y="39867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663440" y="39867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₹280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760720" y="39867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74320" y="4224528"/>
            <a:ext cx="8595360" cy="256032"/>
          </a:xfrm>
          <a:prstGeom prst="rect">
            <a:avLst/>
          </a:prstGeom>
          <a:solidFill>
            <a:srgbClr val="061828"/>
          </a:solidFill>
          <a:ln/>
        </p:spPr>
      </p:sp>
      <p:sp>
        <p:nvSpPr>
          <p:cNvPr id="72" name="Text 70"/>
          <p:cNvSpPr/>
          <p:nvPr/>
        </p:nvSpPr>
        <p:spPr>
          <a:xfrm>
            <a:off x="365760" y="42428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standoff kit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114800" y="4242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4663440" y="4242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5760720" y="42428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assembly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74320" y="4480560"/>
            <a:ext cx="8595360" cy="256032"/>
          </a:xfrm>
          <a:prstGeom prst="rect">
            <a:avLst/>
          </a:prstGeom>
          <a:solidFill>
            <a:srgbClr val="0A2238"/>
          </a:solidFill>
          <a:ln/>
        </p:spPr>
      </p:sp>
      <p:sp>
        <p:nvSpPr>
          <p:cNvPr id="77" name="Text 75"/>
          <p:cNvSpPr/>
          <p:nvPr/>
        </p:nvSpPr>
        <p:spPr>
          <a:xfrm>
            <a:off x="365760" y="44988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+ buzzer + wires + perf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4114800" y="44988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4663440" y="44988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760720" y="44988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outputs + wiring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274320" y="4754880"/>
            <a:ext cx="8595360" cy="310896"/>
          </a:xfrm>
          <a:prstGeom prst="rect">
            <a:avLst/>
          </a:prstGeom>
          <a:solidFill>
            <a:srgbClr val="00FF87">
              <a:alpha val="15000"/>
            </a:srgbClr>
          </a:solidFill>
          <a:ln w="19050">
            <a:solidFill>
              <a:srgbClr val="00FF87"/>
            </a:solidFill>
            <a:prstDash val="solid"/>
          </a:ln>
          <a:effectLst>
            <a:outerShdw blurRad="254000" dist="12700" dir="8100000" algn="bl" rotWithShape="0">
              <a:srgbClr val="00FF87">
                <a:alpha val="70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  <a:effectLst>
            <a:outerShdw blurRad="50800" dist="12700" dir="8100000" algn="bl" rotWithShape="0">
              <a:srgbClr val="00FF87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FF87"/>
                </a:solidFill>
              </a:rPr>
              <a:t>ESTIMATED TOTAL:  ₹3,200 – ₹3,800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0081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66928"/>
          </a:xfrm>
          <a:prstGeom prst="rect">
            <a:avLst/>
          </a:prstGeom>
          <a:noFill/>
          <a:ln/>
          <a:effectLst>
            <a:outerShdw blurRad="254000" dist="12700" dir="8100000" algn="bl" rotWithShape="0">
              <a:srgbClr val="00E5FF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SETUP — FINAL RECOMMENDATION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67512"/>
            <a:ext cx="9144000" cy="109728"/>
          </a:xfrm>
          <a:prstGeom prst="rect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04672"/>
            <a:ext cx="4251960" cy="960120"/>
          </a:xfrm>
          <a:prstGeom prst="rect">
            <a:avLst/>
          </a:prstGeom>
          <a:solidFill>
            <a:srgbClr val="061828"/>
          </a:solidFill>
          <a:ln w="15240">
            <a:solidFill>
              <a:srgbClr val="00E5FF"/>
            </a:solidFill>
            <a:prstDash val="solid"/>
          </a:ln>
          <a:effectLst>
            <a:outerShdw blurRad="1016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54864" cy="960120"/>
          </a:xfrm>
          <a:prstGeom prst="rect">
            <a:avLst/>
          </a:prstGeom>
          <a:solidFill>
            <a:srgbClr val="00E5FF"/>
          </a:solidFill>
          <a:ln/>
          <a:effectLst>
            <a:outerShdw blurRad="1016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" y="8778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0624" y="1097280"/>
            <a:ext cx="3931920" cy="274320"/>
          </a:xfrm>
          <a:prstGeom prst="rect">
            <a:avLst/>
          </a:prstGeom>
          <a:noFill/>
          <a:ln/>
          <a:effectLst>
            <a:outerShdw blurRad="38100" dist="12700" dir="8100000" algn="bl" rotWithShape="0">
              <a:srgbClr val="00E5FF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ESP32-CAM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" y="1399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core, Wi-Fi debug, camera detection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251960" cy="960120"/>
          </a:xfrm>
          <a:prstGeom prst="rect">
            <a:avLst/>
          </a:prstGeom>
          <a:solidFill>
            <a:srgbClr val="061828"/>
          </a:solidFill>
          <a:ln w="15240">
            <a:solidFill>
              <a:srgbClr val="FFB800"/>
            </a:solidFill>
            <a:prstDash val="solid"/>
          </a:ln>
          <a:effectLst>
            <a:outerShdw blurRad="101600" dist="12700" dir="8100000" algn="bl" rotWithShape="0">
              <a:srgbClr val="FFB800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04672"/>
            <a:ext cx="54864" cy="960120"/>
          </a:xfrm>
          <a:prstGeom prst="rect">
            <a:avLst/>
          </a:prstGeom>
          <a:solidFill>
            <a:srgbClr val="FFB800"/>
          </a:solidFill>
          <a:ln/>
          <a:effectLst>
            <a:outerShdw blurRad="101600" dist="12700" dir="8100000" algn="bl" rotWithShape="0">
              <a:srgbClr val="FFB8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55464" y="8778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DRIVER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1097280"/>
            <a:ext cx="3931920" cy="274320"/>
          </a:xfrm>
          <a:prstGeom prst="rect">
            <a:avLst/>
          </a:prstGeom>
          <a:noFill/>
          <a:ln/>
          <a:effectLst>
            <a:outerShdw blurRad="38100" dist="12700" dir="8100000" algn="bl" rotWithShape="0">
              <a:srgbClr val="FFB8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BTS7960 × 2 modules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55464" y="1399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43A, 95% efficient, handles 3S LiPo 12.6V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865376"/>
            <a:ext cx="4251960" cy="960120"/>
          </a:xfrm>
          <a:prstGeom prst="rect">
            <a:avLst/>
          </a:prstGeom>
          <a:solidFill>
            <a:srgbClr val="061828"/>
          </a:solidFill>
          <a:ln w="15240">
            <a:solidFill>
              <a:srgbClr val="00FF87"/>
            </a:solidFill>
            <a:prstDash val="solid"/>
          </a:ln>
          <a:effectLst>
            <a:outerShdw blurRad="101600" dist="12700" dir="8100000" algn="bl" rotWithShape="0">
              <a:srgbClr val="00FF87">
                <a:alpha val="5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74320" y="1865376"/>
            <a:ext cx="54864" cy="960120"/>
          </a:xfrm>
          <a:prstGeom prst="rect">
            <a:avLst/>
          </a:prstGeom>
          <a:solidFill>
            <a:srgbClr val="00FF87"/>
          </a:solidFill>
          <a:ln/>
          <a:effectLst>
            <a:outerShdw blurRad="101600" dist="12700" dir="8100000" algn="bl" rotWithShape="0">
              <a:srgbClr val="00FF87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" y="1938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0624" y="2157984"/>
            <a:ext cx="3931920" cy="274320"/>
          </a:xfrm>
          <a:prstGeom prst="rect">
            <a:avLst/>
          </a:prstGeom>
          <a:noFill/>
          <a:ln/>
          <a:effectLst>
            <a:outerShdw blurRad="38100" dist="12700" dir="8100000" algn="bl" rotWithShape="0">
              <a:srgbClr val="00FF87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RPM DC GEARED MOTOR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0624" y="2459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speed, 3D Printed / metal mount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865376"/>
            <a:ext cx="4251960" cy="960120"/>
          </a:xfrm>
          <a:prstGeom prst="rect">
            <a:avLst/>
          </a:prstGeom>
          <a:solidFill>
            <a:srgbClr val="061828"/>
          </a:solidFill>
          <a:ln w="15240">
            <a:solidFill>
              <a:srgbClr val="00FF87"/>
            </a:solidFill>
            <a:prstDash val="solid"/>
          </a:ln>
          <a:effectLst>
            <a:outerShdw blurRad="101600" dist="12700" dir="8100000" algn="bl" rotWithShape="0">
              <a:srgbClr val="00FF87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865376"/>
            <a:ext cx="54864" cy="960120"/>
          </a:xfrm>
          <a:prstGeom prst="rect">
            <a:avLst/>
          </a:prstGeom>
          <a:solidFill>
            <a:srgbClr val="00FF87"/>
          </a:solidFill>
          <a:ln/>
          <a:effectLst>
            <a:outerShdw blurRad="101600" dist="12700" dir="8100000" algn="bl" rotWithShape="0">
              <a:srgbClr val="00FF87">
                <a:alpha val="5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55464" y="1938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55464" y="2157984"/>
            <a:ext cx="3931920" cy="274320"/>
          </a:xfrm>
          <a:prstGeom prst="rect">
            <a:avLst/>
          </a:prstGeom>
          <a:noFill/>
          <a:ln/>
          <a:effectLst>
            <a:outerShdw blurRad="38100" dist="12700" dir="8100000" algn="bl" rotWithShape="0">
              <a:srgbClr val="00FF87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34mm rubber tyres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55464" y="2459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grip on chart paper, accurate encoders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926080"/>
            <a:ext cx="4251960" cy="960120"/>
          </a:xfrm>
          <a:prstGeom prst="rect">
            <a:avLst/>
          </a:prstGeom>
          <a:solidFill>
            <a:srgbClr val="061828"/>
          </a:solidFill>
          <a:ln w="15240">
            <a:solidFill>
              <a:srgbClr val="00E5FF"/>
            </a:solidFill>
            <a:prstDash val="solid"/>
          </a:ln>
          <a:effectLst>
            <a:outerShdw blurRad="1016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926080"/>
            <a:ext cx="54864" cy="960120"/>
          </a:xfrm>
          <a:prstGeom prst="rect">
            <a:avLst/>
          </a:prstGeom>
          <a:solidFill>
            <a:srgbClr val="00E5FF"/>
          </a:solidFill>
          <a:ln/>
          <a:effectLst>
            <a:outerShdw blurRad="1016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20624" y="29992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0624" y="3218688"/>
            <a:ext cx="3931920" cy="274320"/>
          </a:xfrm>
          <a:prstGeom prst="rect">
            <a:avLst/>
          </a:prstGeom>
          <a:noFill/>
          <a:ln/>
          <a:effectLst>
            <a:outerShdw blurRad="38100" dist="12700" dir="8100000" algn="bl" rotWithShape="0">
              <a:srgbClr val="00E5FF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× 3 (F/L/R)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0624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₹135 total, ±3mm accuracy, wall following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926080"/>
            <a:ext cx="4251960" cy="960120"/>
          </a:xfrm>
          <a:prstGeom prst="rect">
            <a:avLst/>
          </a:prstGeom>
          <a:solidFill>
            <a:srgbClr val="061828"/>
          </a:solidFill>
          <a:ln w="15240">
            <a:solidFill>
              <a:srgbClr val="00FF87"/>
            </a:solidFill>
            <a:prstDash val="solid"/>
          </a:ln>
          <a:effectLst>
            <a:outerShdw blurRad="101600" dist="12700" dir="8100000" algn="bl" rotWithShape="0">
              <a:srgbClr val="00FF87">
                <a:alpha val="5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926080"/>
            <a:ext cx="54864" cy="960120"/>
          </a:xfrm>
          <a:prstGeom prst="rect">
            <a:avLst/>
          </a:prstGeom>
          <a:solidFill>
            <a:srgbClr val="00FF87"/>
          </a:solidFill>
          <a:ln/>
          <a:effectLst>
            <a:outerShdw blurRad="101600" dist="12700" dir="8100000" algn="bl" rotWithShape="0">
              <a:srgbClr val="00FF87">
                <a:alpha val="5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55464" y="29992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55464" y="3218688"/>
            <a:ext cx="3931920" cy="274320"/>
          </a:xfrm>
          <a:prstGeom prst="rect">
            <a:avLst/>
          </a:prstGeom>
          <a:noFill/>
          <a:ln/>
          <a:effectLst>
            <a:outerShdw blurRad="38100" dist="12700" dir="8100000" algn="bl" rotWithShape="0">
              <a:srgbClr val="00FF87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TCS34725 (I2C)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55464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filter + clear ch = black, silver, blue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986784"/>
            <a:ext cx="4251960" cy="868680"/>
          </a:xfrm>
          <a:prstGeom prst="rect">
            <a:avLst/>
          </a:prstGeom>
          <a:solidFill>
            <a:srgbClr val="061828"/>
          </a:solidFill>
          <a:ln w="15240">
            <a:solidFill>
              <a:srgbClr val="FFB800"/>
            </a:solidFill>
            <a:prstDash val="solid"/>
          </a:ln>
          <a:effectLst>
            <a:outerShdw blurRad="101600" dist="12700" dir="8100000" algn="bl" rotWithShape="0">
              <a:srgbClr val="FFB800">
                <a:alpha val="5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986784"/>
            <a:ext cx="54864" cy="841248"/>
          </a:xfrm>
          <a:prstGeom prst="rect">
            <a:avLst/>
          </a:prstGeom>
          <a:solidFill>
            <a:srgbClr val="FFB800"/>
          </a:solidFill>
          <a:ln/>
          <a:effectLst>
            <a:outerShdw blurRad="101600" dist="12700" dir="8100000" algn="bl" rotWithShape="0">
              <a:srgbClr val="FFB800">
                <a:alpha val="5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20624" y="40599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0624" y="4279392"/>
            <a:ext cx="3931920" cy="274320"/>
          </a:xfrm>
          <a:prstGeom prst="rect">
            <a:avLst/>
          </a:prstGeom>
          <a:noFill/>
          <a:ln/>
          <a:effectLst>
            <a:outerShdw blurRad="38100" dist="12700" dir="8100000" algn="bl" rotWithShape="0">
              <a:srgbClr val="FFB8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 LiPo 2200mAh + LM2596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20624" y="4581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12.6V → BTS7960 direct, 5V buck to ESP32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3986784"/>
            <a:ext cx="4251960" cy="841248"/>
          </a:xfrm>
          <a:prstGeom prst="rect">
            <a:avLst/>
          </a:prstGeom>
          <a:solidFill>
            <a:srgbClr val="061828"/>
          </a:solidFill>
          <a:ln w="15240">
            <a:solidFill>
              <a:srgbClr val="00E5FF"/>
            </a:solidFill>
            <a:prstDash val="solid"/>
          </a:ln>
          <a:effectLst>
            <a:outerShdw blurRad="1016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986784"/>
            <a:ext cx="54864" cy="841248"/>
          </a:xfrm>
          <a:prstGeom prst="rect">
            <a:avLst/>
          </a:prstGeom>
          <a:solidFill>
            <a:srgbClr val="00E5FF"/>
          </a:solidFill>
          <a:ln/>
          <a:effectLst>
            <a:outerShdw blurRad="1016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55464" y="40599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55464" y="4279392"/>
            <a:ext cx="3931920" cy="274320"/>
          </a:xfrm>
          <a:prstGeom prst="rect">
            <a:avLst/>
          </a:prstGeom>
          <a:noFill/>
          <a:ln/>
          <a:effectLst>
            <a:outerShdw blurRad="38100" dist="12700" dir="8100000" algn="bl" rotWithShape="0">
              <a:srgbClr val="00E5FF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LED + Active Buzzer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855464" y="4581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required, simple GPIO, under ₹60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solidFill>
            <a:srgbClr val="00E5FF">
              <a:alpha val="10000"/>
            </a:srgbClr>
          </a:solidFill>
          <a:ln w="6350">
            <a:solidFill>
              <a:srgbClr val="00E5FF"/>
            </a:solidFill>
            <a:prstDash val="solid"/>
          </a:ln>
          <a:effectLst>
            <a:outerShdw blurRad="762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</a:rPr>
              <a:t>Total: ₹3,200–3,800  ·  All available in Delhi NCR  ·  Robu.in / Amazon / Lajpat Rai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  <a:effectLst>
            <a:outerShdw blurRad="254000" dist="12700" dir="8100000" algn="bl" rotWithShape="0">
              <a:srgbClr val="00E5FF">
                <a:alpha val="7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E5FF"/>
          </a:solidFill>
          <a:ln/>
          <a:effectLst>
            <a:outerShdw blurRad="254000" dist="12700" dir="8100000" algn="bl" rotWithShape="0">
              <a:srgbClr val="00E5FF">
                <a:alpha val="7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0" y="-274320"/>
            <a:ext cx="3657600" cy="3657600"/>
          </a:xfrm>
          <a:prstGeom prst="ellipse">
            <a:avLst/>
          </a:prstGeom>
          <a:solidFill>
            <a:srgbClr val="00E5FF">
              <a:alpha val="4000"/>
            </a:srgbClr>
          </a:solidFill>
          <a:ln w="762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74320"/>
            <a:ext cx="2560320" cy="2560320"/>
          </a:xfrm>
          <a:prstGeom prst="ellipse">
            <a:avLst/>
          </a:prstGeom>
          <a:solidFill>
            <a:srgbClr val="00FF87">
              <a:alpha val="4000"/>
            </a:srgbClr>
          </a:solidFill>
          <a:ln w="6350">
            <a:solidFill>
              <a:srgbClr val="00FF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  <a:effectLst>
            <a:outerShdw blurRad="254000" dist="12700" dir="8100000" algn="bl" rotWithShape="0">
              <a:srgbClr val="00E5FF">
                <a:alpha val="7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SEQUENCE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292608" cy="292608"/>
          </a:xfrm>
          <a:prstGeom prst="ellipse">
            <a:avLst/>
          </a:prstGeom>
          <a:solidFill>
            <a:srgbClr val="00E5FF"/>
          </a:solidFill>
          <a:ln/>
          <a:effectLst>
            <a:outerShdw blurRad="1016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42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0B18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005840"/>
            <a:ext cx="2286000" cy="228600"/>
          </a:xfrm>
          <a:prstGeom prst="rect">
            <a:avLst/>
          </a:prstGeom>
          <a:noFill/>
          <a:ln/>
          <a:effectLst>
            <a:outerShdw blurRad="25400" dist="12700" dir="8100000" algn="bl" rotWithShape="0">
              <a:srgbClr val="00E5FF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Chassis + motors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2252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motors on acrylic, test wheel spin manually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" y="1353312"/>
            <a:ext cx="0" cy="13716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517904"/>
            <a:ext cx="292608" cy="292608"/>
          </a:xfrm>
          <a:prstGeom prst="ellipse">
            <a:avLst/>
          </a:prstGeom>
          <a:solidFill>
            <a:srgbClr val="00E5FF"/>
          </a:solidFill>
          <a:ln/>
          <a:effectLst>
            <a:outerShdw blurRad="1016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0B18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1481328"/>
            <a:ext cx="2286000" cy="228600"/>
          </a:xfrm>
          <a:prstGeom prst="rect">
            <a:avLst/>
          </a:prstGeom>
          <a:noFill/>
          <a:ln/>
          <a:effectLst>
            <a:outerShdw blurRad="25400" dist="12700" dir="8100000" algn="bl" rotWithShape="0">
              <a:srgbClr val="00E5FF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BTS7960 wiring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17007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→ BTS7960 → motors, basic forward/turn code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" y="1828800"/>
            <a:ext cx="0" cy="13716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993392"/>
            <a:ext cx="292608" cy="292608"/>
          </a:xfrm>
          <a:prstGeom prst="ellipse">
            <a:avLst/>
          </a:prstGeom>
          <a:solidFill>
            <a:srgbClr val="00E5FF"/>
          </a:solidFill>
          <a:ln/>
          <a:effectLst>
            <a:outerShdw blurRad="1016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0B18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1956816"/>
            <a:ext cx="2286000" cy="228600"/>
          </a:xfrm>
          <a:prstGeom prst="rect">
            <a:avLst/>
          </a:prstGeom>
          <a:noFill/>
          <a:ln/>
          <a:effectLst>
            <a:outerShdw blurRad="25400" dist="12700" dir="8100000" algn="bl" rotWithShape="0">
              <a:srgbClr val="00E5FF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× 3 mount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21762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Front/left/right wall detection + corridor following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" y="2304288"/>
            <a:ext cx="0" cy="13716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468880"/>
            <a:ext cx="292608" cy="292608"/>
          </a:xfrm>
          <a:prstGeom prst="ellipse">
            <a:avLst/>
          </a:prstGeom>
          <a:solidFill>
            <a:srgbClr val="00E5FF"/>
          </a:solidFill>
          <a:ln/>
          <a:effectLst>
            <a:outerShdw blurRad="1016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0B18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2432304"/>
            <a:ext cx="2286000" cy="228600"/>
          </a:xfrm>
          <a:prstGeom prst="rect">
            <a:avLst/>
          </a:prstGeom>
          <a:noFill/>
          <a:ln/>
          <a:effectLst>
            <a:outerShdw blurRad="25400" dist="12700" dir="8100000" algn="bl" rotWithShape="0">
              <a:srgbClr val="00E5FF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TCS34725 integration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26517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calibration for blue/black/silver on chart paper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" y="2779776"/>
            <a:ext cx="0" cy="13716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944368"/>
            <a:ext cx="292608" cy="292608"/>
          </a:xfrm>
          <a:prstGeom prst="ellipse">
            <a:avLst/>
          </a:prstGeom>
          <a:solidFill>
            <a:srgbClr val="00E5FF"/>
          </a:solidFill>
          <a:ln/>
          <a:effectLst>
            <a:outerShdw blurRad="1016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0B18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2907792"/>
            <a:ext cx="2286000" cy="228600"/>
          </a:xfrm>
          <a:prstGeom prst="rect">
            <a:avLst/>
          </a:prstGeom>
          <a:noFill/>
          <a:ln/>
          <a:effectLst>
            <a:outerShdw blurRad="25400" dist="12700" dir="8100000" algn="bl" rotWithShape="0">
              <a:srgbClr val="00E5FF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setup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31272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facing down, serial to main ESP32, HSV threshold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" y="3255264"/>
            <a:ext cx="0" cy="13716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419856"/>
            <a:ext cx="292608" cy="292608"/>
          </a:xfrm>
          <a:prstGeom prst="ellipse">
            <a:avLst/>
          </a:prstGeom>
          <a:solidFill>
            <a:srgbClr val="00E5FF"/>
          </a:solidFill>
          <a:ln/>
          <a:effectLst>
            <a:outerShdw blurRad="1016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0B18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68680" y="3383280"/>
            <a:ext cx="2286000" cy="228600"/>
          </a:xfrm>
          <a:prstGeom prst="rect">
            <a:avLst/>
          </a:prstGeom>
          <a:noFill/>
          <a:ln/>
          <a:effectLst>
            <a:outerShdw blurRad="25400" dist="12700" dir="8100000" algn="bl" rotWithShape="0">
              <a:srgbClr val="00E5FF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+ Buzzer wiring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68680" y="36027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outputs, test blue blink + buzzer on detection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" y="3730752"/>
            <a:ext cx="0" cy="13716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895344"/>
            <a:ext cx="292608" cy="292608"/>
          </a:xfrm>
          <a:prstGeom prst="ellipse">
            <a:avLst/>
          </a:prstGeom>
          <a:solidFill>
            <a:srgbClr val="00E5FF"/>
          </a:solidFill>
          <a:ln/>
          <a:effectLst>
            <a:outerShdw blurRad="1016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0B18"/>
                </a:solidFill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8680" y="3858768"/>
            <a:ext cx="2286000" cy="228600"/>
          </a:xfrm>
          <a:prstGeom prst="rect">
            <a:avLst/>
          </a:prstGeom>
          <a:noFill/>
          <a:ln/>
          <a:effectLst>
            <a:outerShdw blurRad="25400" dist="12700" dir="8100000" algn="bl" rotWithShape="0">
              <a:srgbClr val="00E5FF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maze dry run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68680" y="40782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mock maze at home, test complete autonomous run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" y="4206240"/>
            <a:ext cx="0" cy="13716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370832"/>
            <a:ext cx="292608" cy="292608"/>
          </a:xfrm>
          <a:prstGeom prst="ellipse">
            <a:avLst/>
          </a:prstGeom>
          <a:solidFill>
            <a:srgbClr val="FFB800"/>
          </a:solidFill>
          <a:ln/>
          <a:effectLst>
            <a:outerShdw blurRad="101600" dist="12700" dir="8100000" algn="bl" rotWithShape="0">
              <a:srgbClr val="FFB800">
                <a:alpha val="5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57200" y="4370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0B18"/>
                </a:solidFill>
              </a:rPr>
              <a:t>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68680" y="4334256"/>
            <a:ext cx="2286000" cy="228600"/>
          </a:xfrm>
          <a:prstGeom prst="rect">
            <a:avLst/>
          </a:prstGeom>
          <a:noFill/>
          <a:ln/>
          <a:effectLst>
            <a:outerShdw blurRad="25400" dist="12700" dir="8100000" algn="bl" rotWithShape="0">
              <a:srgbClr val="FFB8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day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68680" y="45537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at 8 AM with actual maze → compete at 10 AM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4754880"/>
            <a:ext cx="8229600" cy="18288"/>
          </a:xfrm>
          <a:prstGeom prst="rect">
            <a:avLst/>
          </a:prstGeom>
          <a:solidFill>
            <a:srgbClr val="00E5FF"/>
          </a:solidFill>
          <a:ln/>
          <a:effectLst>
            <a:outerShdw blurRad="76200" dist="12700" dir="8100000" algn="bl" rotWithShape="0">
              <a:srgbClr val="00E5FF">
                <a:alpha val="5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  <a:effectLst>
            <a:outerShdw blurRad="50800" dist="12700" dir="8100000" algn="bl" rotWithShape="0">
              <a:srgbClr val="00E5FF">
                <a:alpha val="5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</a:rPr>
              <a:t>DPS IT Fest 2026  ·  Rescue Maze  ·  Navigate. Locate. Rescue.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2385</Words>
  <Application>Microsoft Macintosh PowerPoint</Application>
  <PresentationFormat>On-screen Show (16:9)</PresentationFormat>
  <Paragraphs>835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Rescue Maze Robot – Complete Build Guide</dc:title>
  <dc:subject>PptxGenJS Presentation</dc:subject>
  <dc:creator>PptxGenJS</dc:creator>
  <cp:lastModifiedBy>Microsoft Office User</cp:lastModifiedBy>
  <cp:revision>2</cp:revision>
  <dcterms:created xsi:type="dcterms:W3CDTF">2026-05-13T11:27:21Z</dcterms:created>
  <dcterms:modified xsi:type="dcterms:W3CDTF">2026-05-13T11:52:33Z</dcterms:modified>
</cp:coreProperties>
</file>